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7" r:id="rId12"/>
    <p:sldId id="272" r:id="rId13"/>
    <p:sldId id="268" r:id="rId14"/>
    <p:sldId id="273" r:id="rId15"/>
    <p:sldId id="277" r:id="rId16"/>
    <p:sldId id="269" r:id="rId17"/>
    <p:sldId id="270" r:id="rId18"/>
    <p:sldId id="276" r:id="rId19"/>
    <p:sldId id="271" r:id="rId20"/>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79216" autoAdjust="0"/>
  </p:normalViewPr>
  <p:slideViewPr>
    <p:cSldViewPr snapToGrid="0">
      <p:cViewPr varScale="1">
        <p:scale>
          <a:sx n="89" d="100"/>
          <a:sy n="89" d="100"/>
        </p:scale>
        <p:origin x="15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大家好，我們是第十七組，我們今天要介紹的是 WOMS，一個在雲原生架構下的晶圓訂單管理排程系統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首先，我們必須先定義使用這套系統的</a:t>
            </a:r>
            <a:r>
              <a:rPr dirty="0"/>
              <a:t> </a:t>
            </a:r>
            <a:r>
              <a:rPr dirty="0" err="1"/>
              <a:t>user，接著再介紹他們的</a:t>
            </a:r>
            <a:r>
              <a:rPr dirty="0"/>
              <a:t> User </a:t>
            </a:r>
            <a:r>
              <a:rPr dirty="0" err="1"/>
              <a:t>Story，可以看到：畫面最上方顯示的是</a:t>
            </a:r>
            <a:r>
              <a:rPr dirty="0"/>
              <a:t> </a:t>
            </a:r>
            <a:r>
              <a:rPr dirty="0" err="1"/>
              <a:t>Admin，也就是在</a:t>
            </a:r>
            <a:r>
              <a:rPr dirty="0"/>
              <a:t> IT </a:t>
            </a:r>
            <a:r>
              <a:rPr dirty="0" err="1"/>
              <a:t>部門中，負責維運</a:t>
            </a:r>
            <a:r>
              <a:rPr dirty="0"/>
              <a:t>/</a:t>
            </a:r>
            <a:r>
              <a:rPr dirty="0" err="1"/>
              <a:t>管理我們這套系統的</a:t>
            </a:r>
            <a:r>
              <a:rPr dirty="0"/>
              <a:t> </a:t>
            </a:r>
            <a:r>
              <a:rPr dirty="0" err="1"/>
              <a:t>DevOps，左下角是</a:t>
            </a:r>
            <a:r>
              <a:rPr dirty="0"/>
              <a:t> </a:t>
            </a:r>
            <a:r>
              <a:rPr dirty="0" err="1"/>
              <a:t>Sales，也可以說是</a:t>
            </a:r>
            <a:r>
              <a:rPr dirty="0"/>
              <a:t> </a:t>
            </a:r>
            <a:r>
              <a:rPr dirty="0" err="1"/>
              <a:t>PM，負責跟客戶周旋，決定訂單時間，最後，右下角是</a:t>
            </a:r>
            <a:r>
              <a:rPr dirty="0"/>
              <a:t> </a:t>
            </a:r>
            <a:r>
              <a:rPr dirty="0" err="1"/>
              <a:t>Scheduler，也可以想成是現場負責管理機台並且決定當天要執行哪筆訂單的排程工程師</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dirty="0" err="1"/>
              <a:t>在沒有使用這套系統的情境下，我們不難想像</a:t>
            </a:r>
            <a:r>
              <a:rPr dirty="0"/>
              <a:t> Sales </a:t>
            </a:r>
            <a:r>
              <a:rPr dirty="0" err="1"/>
              <a:t>的日常就是客戶透過電話</a:t>
            </a:r>
            <a:r>
              <a:rPr dirty="0"/>
              <a:t>/</a:t>
            </a:r>
            <a:r>
              <a:rPr dirty="0" err="1"/>
              <a:t>簡訊下訂單，Sales</a:t>
            </a:r>
            <a:r>
              <a:rPr dirty="0"/>
              <a:t> </a:t>
            </a:r>
            <a:r>
              <a:rPr dirty="0" err="1"/>
              <a:t>紀錄訂單細節後，再丟</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a:t>所以第四頁我們先把 WOMS 想解決的核心問題講清楚。對 Sales 來說，他需要快速回覆客戶，尤其是在電話訂單或急單插單的情境下，他不能每一次都等排程工程師人工確認。可是對 Scheduler 來說，他不能只因為 Sales 想接單，就破壞現場既有的生產排程。</a:t>
            </a:r>
          </a:p>
          <a:p>
            <a:r>
              <a:rPr sz="1200" b="0" i="1"/>
              <a:t>因此 WOMS 的設計目標，就是讓 Sales 可以先在系統中登記訂單，透過日曆確認目前是否有機會排入；如果不行，就繼續和客戶協調。如果可以，才提交到系統。接著 Scheduler 會根據現場實際狀況決定接受或駁回，最後才排入生產時程。</a:t>
            </a:r>
          </a:p>
          <a:p>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a:t>所以第四頁我們先把 WOMS 想解決的核心問題講清楚。對 Sales 來說，他需要快速回覆客戶，尤其是在電話訂單或急單插單的情境下，他不能每一次都等排程工程師人工確認。可是對 Scheduler 來說，他不能只因為 Sales 想接單，就破壞現場既有的生產排程。</a:t>
            </a:r>
          </a:p>
          <a:p>
            <a:r>
              <a:rPr sz="1200" b="0" i="1"/>
              <a:t>因此 WOMS 的設計目標，就是讓 Sales 可以先在系統中登記訂單，透過日曆確認目前是否有機會排入；如果不行，就繼續和客戶協調。如果可以，才提交到系統。接著 Scheduler 會根據現場實際狀況決定接受或駁回，最後才排入生產時程。</a:t>
            </a:r>
          </a:p>
          <a:p>
            <a:b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a:latin typeface="Microsoft JhengHei"/>
                <a:ea typeface="Microsoft JhengHei"/>
                <a:cs typeface="Microsoft JhengHei"/>
              </a:rPr>
              <a:t>接下來這張是 WOMS 的 application architecture，也就是剛剛 Sales 和 Scheduler 的操作流程，在系統內部是怎麼被實作出來的。</a:t>
            </a:r>
          </a:p>
          <a:p>
            <a:r>
              <a:rPr sz="1200" b="0" i="0">
                <a:latin typeface="Microsoft JhengHei"/>
                <a:ea typeface="Microsoft JhengHei"/>
                <a:cs typeface="Microsoft JhengHei"/>
              </a:rPr>
              <a:t>最左邊是 Users，包含 Sales 和 Scheduler。使用者會先透過 Web Frontend 操作系統，而前端是用原生的 HTML、CSS 和 JavaScript 實作。前端收到操作後，會把請求送到 Go API。</a:t>
            </a:r>
          </a:p>
          <a:p>
            <a:r>
              <a:rPr sz="1200" b="0" i="0">
                <a:latin typeface="Microsoft JhengHei"/>
                <a:ea typeface="Microsoft JhengHei"/>
                <a:cs typeface="Microsoft JhengHei"/>
              </a:rPr>
              <a:t>Go API 是主要的後端入口，負責處理訂單建立、排程預覽、排程確認等 API 請求。同時，API 也會在這一層做 JWT 驗證和 RBAC 權限控管，確保不同角色只能執行自己被允許的操作。</a:t>
            </a:r>
          </a:p>
          <a:p>
            <a:r>
              <a:rPr sz="1200" b="0" i="0">
                <a:latin typeface="Microsoft JhengHei"/>
                <a:ea typeface="Microsoft JhengHei"/>
                <a:cs typeface="Microsoft JhengHei"/>
              </a:rPr>
              <a:t>當 API 需要觸發排程或生產相關任務時，它不會把所有工作都同步做完，而是把任務送進 Kafka。Kafka 在這裡扮演 async job queue 的角色，負責把排程任務排隊，再由 Scheduler Worker 取出 job 來執行後續處理。</a:t>
            </a:r>
          </a:p>
          <a:p>
            <a:r>
              <a:rPr sz="1200" b="0" i="0">
                <a:latin typeface="Microsoft JhengHei"/>
                <a:ea typeface="Microsoft JhengHei"/>
                <a:cs typeface="Microsoft JhengHei"/>
              </a:rPr>
              <a:t>下方的 PostgreSQL 是主要資料庫，用來保存 orders、schedules，以及目前的訂單狀態，所以它是整個系統的 source of truth。Redis 則是 shared locks，用來避免同一條產線或同一段排程被多個流程同時修改。也就是說，API 和 Scheduler Worker 都會透過 Database 和 Redis 來維持資料一致性與排程一致性。</a:t>
            </a:r>
          </a:p>
          <a:p>
            <a:r>
              <a:rPr sz="1200" b="0" i="0">
                <a:latin typeface="Microsoft JhengHei"/>
                <a:ea typeface="Microsoft JhengHei"/>
                <a:cs typeface="Microsoft JhengHei"/>
              </a:rPr>
              <a:t>最後，Prometheus 和 Grafana 負責 monitoring，讓我們可以觀察服務狀態、API 行為，以及後續 worker 處理任務時的系統狀況。</a:t>
            </a:r>
          </a:p>
          <a:p>
            <a:r>
              <a:rPr sz="1200" b="0" i="0">
                <a:latin typeface="Microsoft JhengHei"/>
                <a:ea typeface="Microsoft JhengHei"/>
                <a:cs typeface="Microsoft JhengHei"/>
              </a:rPr>
              <a:t>所以這張圖的重點是：WOMS 把前端操作、API 驗證、非同步 job queue、worker 處理、資料儲存和 shared locks 拆開，讓 Sales 和 Scheduler 的流程可以協作，但不會把所有邏輯耦合在同一個服務裡。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這一頁聚焦 Sales workflow。Sales 先登入並載入產線，建立訂單前會先做 due date 和 capacity preview，確認可接受後才把訂單送進待排程狀態。如果 preview 顯示衝突，Sales 可以修改數量、交期或開始日期，再重新 preview。這樣的設計讓業務端可以快速回覆客戶，但不會直接覆寫正式生產排程。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這一頁聚焦 Scheduler workflow。Scheduler 會從待排程訂單開始，選擇產線與開始日期，先產生 schedule preview，再處理 conflict 或人工介入理由。確認後才建立正式 schedule job，讓 worker 非同步落地 allocations。這樣可以把使用者確認、衝突處理、line revision 和 audit record 都放在正式排程之前。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dirty="0" err="1"/>
              <a:t>接下來這一頁是</a:t>
            </a:r>
            <a:r>
              <a:rPr sz="1200" b="0" i="1" dirty="0"/>
              <a:t> WOMS 的 infrastructure </a:t>
            </a:r>
            <a:r>
              <a:rPr sz="1200" b="0" i="1" dirty="0" err="1"/>
              <a:t>architecture。我們把它分成兩個部分來看：上半部是</a:t>
            </a:r>
            <a:r>
              <a:rPr sz="1200" b="0" i="1" dirty="0"/>
              <a:t> build/deploy </a:t>
            </a:r>
            <a:r>
              <a:rPr sz="1200" b="0" i="1" dirty="0" err="1"/>
              <a:t>flow，下半部是使用者實際連進系統時，在</a:t>
            </a:r>
            <a:r>
              <a:rPr sz="1200" b="0" i="1" dirty="0"/>
              <a:t> Kubernetes </a:t>
            </a:r>
            <a:r>
              <a:rPr sz="1200" b="0" i="1" dirty="0" err="1"/>
              <a:t>裡面的</a:t>
            </a:r>
            <a:r>
              <a:rPr sz="1200" b="0" i="1" dirty="0"/>
              <a:t> runtime flow。</a:t>
            </a:r>
          </a:p>
          <a:p>
            <a:r>
              <a:rPr sz="1200" b="0" i="1" dirty="0" err="1"/>
              <a:t>先看上半部。當我們完成程式碼後，GitHub</a:t>
            </a:r>
            <a:r>
              <a:rPr sz="1200" b="0" i="1" dirty="0"/>
              <a:t> Actions </a:t>
            </a:r>
            <a:r>
              <a:rPr sz="1200" b="0" i="1" dirty="0" err="1"/>
              <a:t>會負責執行</a:t>
            </a:r>
            <a:r>
              <a:rPr sz="1200" b="0" i="1" dirty="0"/>
              <a:t> test 和 </a:t>
            </a:r>
            <a:r>
              <a:rPr sz="1200" b="0" i="1" dirty="0" err="1"/>
              <a:t>build，接著把</a:t>
            </a:r>
            <a:r>
              <a:rPr sz="1200" b="0" i="1" dirty="0"/>
              <a:t> </a:t>
            </a:r>
            <a:r>
              <a:rPr sz="1200" b="0" i="1" dirty="0" err="1"/>
              <a:t>Web、API、Worker</a:t>
            </a:r>
            <a:r>
              <a:rPr sz="1200" b="0" i="1" dirty="0"/>
              <a:t> </a:t>
            </a:r>
            <a:r>
              <a:rPr sz="1200" b="0" i="1" dirty="0" err="1"/>
              <a:t>對應的</a:t>
            </a:r>
            <a:r>
              <a:rPr sz="1200" b="0" i="1" dirty="0"/>
              <a:t> Docker images push 到 Docker </a:t>
            </a:r>
            <a:r>
              <a:rPr sz="1200" b="0" i="1" dirty="0" err="1"/>
              <a:t>Hub。部署時，Helm</a:t>
            </a:r>
            <a:r>
              <a:rPr sz="1200" b="0" i="1" dirty="0"/>
              <a:t> Chart </a:t>
            </a:r>
            <a:r>
              <a:rPr sz="1200" b="0" i="1" dirty="0" err="1"/>
              <a:t>會透過</a:t>
            </a:r>
            <a:r>
              <a:rPr sz="1200" b="0" i="1" dirty="0"/>
              <a:t> </a:t>
            </a:r>
            <a:r>
              <a:rPr sz="1200" b="0" i="1" dirty="0" err="1"/>
              <a:t>values.yaml</a:t>
            </a:r>
            <a:r>
              <a:rPr sz="1200" b="0" i="1" dirty="0"/>
              <a:t> </a:t>
            </a:r>
            <a:r>
              <a:rPr sz="1200" b="0" i="1" dirty="0" err="1"/>
              <a:t>選擇要部署的</a:t>
            </a:r>
            <a:r>
              <a:rPr sz="1200" b="0" i="1" dirty="0"/>
              <a:t> image </a:t>
            </a:r>
            <a:r>
              <a:rPr sz="1200" b="0" i="1" dirty="0" err="1"/>
              <a:t>tag，最後把這些元件部署到</a:t>
            </a:r>
            <a:r>
              <a:rPr sz="1200" b="0" i="1" dirty="0"/>
              <a:t> GKE </a:t>
            </a:r>
            <a:r>
              <a:rPr sz="1200" b="0" i="1" dirty="0" err="1"/>
              <a:t>cluster，也就是我們的</a:t>
            </a:r>
            <a:r>
              <a:rPr sz="1200" b="0" i="1" dirty="0"/>
              <a:t> </a:t>
            </a:r>
            <a:r>
              <a:rPr sz="1200" b="0" i="1" dirty="0" err="1"/>
              <a:t>woms</a:t>
            </a:r>
            <a:r>
              <a:rPr sz="1200" b="0" i="1" dirty="0"/>
              <a:t>-</a:t>
            </a:r>
            <a:r>
              <a:rPr sz="1200" b="0" i="1" dirty="0" err="1"/>
              <a:t>gke</a:t>
            </a:r>
            <a:r>
              <a:rPr sz="1200" b="0" i="1" dirty="0"/>
              <a:t>-cluster。</a:t>
            </a:r>
          </a:p>
          <a:p>
            <a:r>
              <a:rPr sz="1200" b="0" i="1" dirty="0" err="1"/>
              <a:t>接著看左邊的</a:t>
            </a:r>
            <a:r>
              <a:rPr sz="1200" b="0" i="1" dirty="0"/>
              <a:t> user request </a:t>
            </a:r>
            <a:r>
              <a:rPr sz="1200" b="0" i="1" dirty="0" err="1"/>
              <a:t>flow。使用者會透過</a:t>
            </a:r>
            <a:r>
              <a:rPr sz="1200" b="0" i="1" dirty="0"/>
              <a:t> https://woms.c1ydeh.net </a:t>
            </a:r>
            <a:r>
              <a:rPr sz="1200" b="0" i="1" dirty="0" err="1"/>
              <a:t>連進來，DNS</a:t>
            </a:r>
            <a:r>
              <a:rPr sz="1200" b="0" i="1" dirty="0"/>
              <a:t> </a:t>
            </a:r>
            <a:r>
              <a:rPr sz="1200" b="0" i="1" dirty="0" err="1"/>
              <a:t>會導到</a:t>
            </a:r>
            <a:r>
              <a:rPr sz="1200" b="0" i="1" dirty="0"/>
              <a:t> GKE </a:t>
            </a:r>
            <a:r>
              <a:rPr sz="1200" b="0" i="1" dirty="0" err="1"/>
              <a:t>上的</a:t>
            </a:r>
            <a:r>
              <a:rPr sz="1200" b="0" i="1" dirty="0"/>
              <a:t> External </a:t>
            </a:r>
            <a:r>
              <a:rPr sz="1200" b="0" i="1" dirty="0" err="1"/>
              <a:t>LoadBalancer，也就是</a:t>
            </a:r>
            <a:r>
              <a:rPr sz="1200" b="0" i="1" dirty="0"/>
              <a:t> 136.110.70.193:443。這個入口有 CIDR </a:t>
            </a:r>
            <a:r>
              <a:rPr sz="1200" b="0" i="1" dirty="0" err="1"/>
              <a:t>allowlist，所以只有被允許的來源網段可以進入</a:t>
            </a:r>
            <a:r>
              <a:rPr sz="1200" b="0" i="1" dirty="0"/>
              <a:t>。</a:t>
            </a:r>
          </a:p>
          <a:p>
            <a:r>
              <a:rPr sz="1200" b="0" i="1" dirty="0" err="1"/>
              <a:t>進入</a:t>
            </a:r>
            <a:r>
              <a:rPr sz="1200" b="0" i="1" dirty="0"/>
              <a:t> Kubernetes runtime </a:t>
            </a:r>
            <a:r>
              <a:rPr sz="1200" b="0" i="1" dirty="0" err="1"/>
              <a:t>後，流量會先到</a:t>
            </a:r>
            <a:r>
              <a:rPr sz="1200" b="0" i="1" dirty="0"/>
              <a:t> NGINX </a:t>
            </a:r>
            <a:r>
              <a:rPr sz="1200" b="0" i="1" dirty="0" err="1"/>
              <a:t>Ingress。Ingress</a:t>
            </a:r>
            <a:r>
              <a:rPr sz="1200" b="0" i="1" dirty="0"/>
              <a:t> </a:t>
            </a:r>
            <a:r>
              <a:rPr sz="1200" b="0" i="1" dirty="0" err="1"/>
              <a:t>負責</a:t>
            </a:r>
            <a:r>
              <a:rPr sz="1200" b="0" i="1" dirty="0"/>
              <a:t> HTTPS </a:t>
            </a:r>
            <a:r>
              <a:rPr sz="1200" b="0" i="1" dirty="0" err="1"/>
              <a:t>routing，其中</a:t>
            </a:r>
            <a:r>
              <a:rPr sz="1200" b="0" i="1" dirty="0"/>
              <a:t> / </a:t>
            </a:r>
            <a:r>
              <a:rPr sz="1200" b="0" i="1" dirty="0" err="1"/>
              <a:t>會導到</a:t>
            </a:r>
            <a:r>
              <a:rPr sz="1200" b="0" i="1" dirty="0"/>
              <a:t> web，/</a:t>
            </a:r>
            <a:r>
              <a:rPr sz="1200" b="0" i="1" dirty="0" err="1"/>
              <a:t>api</a:t>
            </a:r>
            <a:r>
              <a:rPr sz="1200" b="0" i="1" dirty="0"/>
              <a:t> </a:t>
            </a:r>
            <a:r>
              <a:rPr sz="1200" b="0" i="1" dirty="0" err="1"/>
              <a:t>會導到</a:t>
            </a:r>
            <a:r>
              <a:rPr sz="1200" b="0" i="1" dirty="0"/>
              <a:t> </a:t>
            </a:r>
            <a:r>
              <a:rPr sz="1200" b="0" i="1" dirty="0" err="1"/>
              <a:t>API。App</a:t>
            </a:r>
            <a:r>
              <a:rPr sz="1200" b="0" i="1" dirty="0"/>
              <a:t> deployments </a:t>
            </a:r>
            <a:r>
              <a:rPr sz="1200" b="0" i="1" dirty="0" err="1"/>
              <a:t>裡面則包含</a:t>
            </a:r>
            <a:r>
              <a:rPr sz="1200" b="0" i="1" dirty="0"/>
              <a:t> </a:t>
            </a:r>
            <a:r>
              <a:rPr sz="1200" b="0" i="1" dirty="0" err="1"/>
              <a:t>web、api</a:t>
            </a:r>
            <a:r>
              <a:rPr sz="1200" b="0" i="1" dirty="0"/>
              <a:t> 和 </a:t>
            </a:r>
            <a:r>
              <a:rPr sz="1200" b="0" i="1" dirty="0" err="1"/>
              <a:t>worker；目前</a:t>
            </a:r>
            <a:r>
              <a:rPr sz="1200" b="0" i="1" dirty="0"/>
              <a:t> API 是 2 個 </a:t>
            </a:r>
            <a:r>
              <a:rPr sz="1200" b="0" i="1" dirty="0" err="1"/>
              <a:t>replicas，worker</a:t>
            </a:r>
            <a:r>
              <a:rPr sz="1200" b="0" i="1" dirty="0"/>
              <a:t> 是 1 </a:t>
            </a:r>
            <a:r>
              <a:rPr sz="1200" b="0" i="1" dirty="0" err="1"/>
              <a:t>個，而</a:t>
            </a:r>
            <a:r>
              <a:rPr sz="1200" b="0" i="1" dirty="0"/>
              <a:t> web </a:t>
            </a:r>
            <a:r>
              <a:rPr sz="1200" b="0" i="1" dirty="0" err="1"/>
              <a:t>會因為</a:t>
            </a:r>
            <a:r>
              <a:rPr sz="1200" b="0" i="1" dirty="0"/>
              <a:t> autoscaling 從 2 </a:t>
            </a:r>
            <a:r>
              <a:rPr sz="1200" b="0" i="1" dirty="0" err="1"/>
              <a:t>擴到</a:t>
            </a:r>
            <a:r>
              <a:rPr sz="1200" b="0" i="1" dirty="0"/>
              <a:t> N。</a:t>
            </a:r>
          </a:p>
          <a:p>
            <a:r>
              <a:rPr sz="1200" b="0" i="1" dirty="0" err="1"/>
              <a:t>右邊是</a:t>
            </a:r>
            <a:r>
              <a:rPr sz="1200" b="0" i="1" dirty="0"/>
              <a:t> stateful </a:t>
            </a:r>
            <a:r>
              <a:rPr sz="1200" b="0" i="1" dirty="0" err="1"/>
              <a:t>services，包含</a:t>
            </a:r>
            <a:r>
              <a:rPr sz="1200" b="0" i="1" dirty="0"/>
              <a:t> </a:t>
            </a:r>
            <a:r>
              <a:rPr sz="1200" b="0" i="1" dirty="0" err="1"/>
              <a:t>PostgreSQL、Redis</a:t>
            </a:r>
            <a:r>
              <a:rPr sz="1200" b="0" i="1" dirty="0"/>
              <a:t> 和 </a:t>
            </a:r>
            <a:r>
              <a:rPr sz="1200" b="0" i="1" dirty="0" err="1"/>
              <a:t>Kafka。它們分別支撐資料庫、cache</a:t>
            </a:r>
            <a:r>
              <a:rPr sz="1200" b="0" i="1" dirty="0"/>
              <a:t> 或 shared </a:t>
            </a:r>
            <a:r>
              <a:rPr sz="1200" b="0" i="1" dirty="0" err="1"/>
              <a:t>lock，以及</a:t>
            </a:r>
            <a:r>
              <a:rPr sz="1200" b="0" i="1" dirty="0"/>
              <a:t> async </a:t>
            </a:r>
            <a:r>
              <a:rPr sz="1200" b="0" i="1" dirty="0" err="1"/>
              <a:t>queue。下方則是</a:t>
            </a:r>
            <a:r>
              <a:rPr sz="1200" b="0" i="1" dirty="0"/>
              <a:t> observability 和 </a:t>
            </a:r>
            <a:r>
              <a:rPr sz="1200" b="0" i="1" dirty="0" err="1"/>
              <a:t>autoscaling：Prometheus</a:t>
            </a:r>
            <a:r>
              <a:rPr sz="1200" b="0" i="1" dirty="0"/>
              <a:t> 會 scrape web 的 NGINX request </a:t>
            </a:r>
            <a:r>
              <a:rPr sz="1200" b="0" i="1" dirty="0" err="1"/>
              <a:t>metrics，Grafana</a:t>
            </a:r>
            <a:r>
              <a:rPr sz="1200" b="0" i="1" dirty="0"/>
              <a:t> 讀 Prometheus </a:t>
            </a:r>
            <a:r>
              <a:rPr sz="1200" b="0" i="1" dirty="0" err="1"/>
              <a:t>的資料做</a:t>
            </a:r>
            <a:r>
              <a:rPr sz="1200" b="0" i="1" dirty="0"/>
              <a:t> </a:t>
            </a:r>
            <a:r>
              <a:rPr sz="1200" b="0" i="1" dirty="0" err="1"/>
              <a:t>dashboard，而</a:t>
            </a:r>
            <a:r>
              <a:rPr sz="1200" b="0" i="1" dirty="0"/>
              <a:t> KEDA/HPA </a:t>
            </a:r>
            <a:r>
              <a:rPr sz="1200" b="0" i="1" dirty="0" err="1"/>
              <a:t>會根據</a:t>
            </a:r>
            <a:r>
              <a:rPr sz="1200" b="0" i="1" dirty="0"/>
              <a:t> Prometheus 的 request-rate </a:t>
            </a:r>
            <a:r>
              <a:rPr sz="1200" b="0" i="1" dirty="0" err="1"/>
              <a:t>指標觸發</a:t>
            </a:r>
            <a:r>
              <a:rPr sz="1200" b="0" i="1" dirty="0"/>
              <a:t> web pods 的 scale in / scale out。</a:t>
            </a:r>
          </a:p>
          <a:p>
            <a:r>
              <a:rPr sz="1200" b="0" i="1" dirty="0" err="1"/>
              <a:t>最後，cert-manager</a:t>
            </a:r>
            <a:r>
              <a:rPr sz="1200" b="0" i="1" dirty="0"/>
              <a:t> </a:t>
            </a:r>
            <a:r>
              <a:rPr sz="1200" b="0" i="1" dirty="0" err="1"/>
              <a:t>會提供</a:t>
            </a:r>
            <a:r>
              <a:rPr sz="1200" b="0" i="1" dirty="0"/>
              <a:t> TLS secret 給 NGINX Ingress </a:t>
            </a:r>
            <a:r>
              <a:rPr sz="1200" b="0" i="1" dirty="0" err="1"/>
              <a:t>使用。底下這一列則是我們在</a:t>
            </a:r>
            <a:r>
              <a:rPr sz="1200" b="0" i="1" dirty="0"/>
              <a:t> GCP Workloads </a:t>
            </a:r>
            <a:r>
              <a:rPr sz="1200" b="0" i="1" dirty="0" err="1"/>
              <a:t>上看到的實際狀態，對應到</a:t>
            </a:r>
            <a:r>
              <a:rPr sz="1200" b="0" i="1" dirty="0"/>
              <a:t> </a:t>
            </a:r>
            <a:r>
              <a:rPr sz="1200" b="0" i="1" dirty="0" err="1"/>
              <a:t>app、platform、stateful</a:t>
            </a:r>
            <a:r>
              <a:rPr sz="1200" b="0" i="1" dirty="0"/>
              <a:t> 和 observability </a:t>
            </a:r>
            <a:r>
              <a:rPr sz="1200" b="0" i="1" dirty="0" err="1"/>
              <a:t>這幾類元件</a:t>
            </a:r>
            <a:r>
              <a:rPr sz="1200" b="0" i="1"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sz="1200" b="0" i="1" dirty="0"/>
              <a:t>接下來這幾頁我會把前面比較 </a:t>
            </a:r>
            <a:r>
              <a:rPr lang="en-US" sz="1200" b="0" i="1" dirty="0"/>
              <a:t>high-level </a:t>
            </a:r>
            <a:r>
              <a:rPr lang="zh-TW" altLang="en-US" sz="1200" b="0" i="1" dirty="0"/>
              <a:t>的 </a:t>
            </a:r>
            <a:r>
              <a:rPr lang="en-US" sz="1200" b="0" i="1" dirty="0"/>
              <a:t>component </a:t>
            </a:r>
            <a:r>
              <a:rPr lang="zh-TW" altLang="en-US" sz="1200" b="0" i="1" dirty="0"/>
              <a:t>拆開來講。這一頁先看 </a:t>
            </a:r>
            <a:r>
              <a:rPr lang="en-US" sz="1200" b="0" i="1" dirty="0"/>
              <a:t>Backend API and Security，</a:t>
            </a:r>
            <a:r>
              <a:rPr lang="zh-TW" altLang="en-US" sz="1200" b="0" i="1" dirty="0"/>
              <a:t>也就是使用者從登入到真的打進 </a:t>
            </a:r>
            <a:r>
              <a:rPr lang="en-US" sz="1200" b="0" i="1" dirty="0"/>
              <a:t>API，</a:t>
            </a:r>
            <a:r>
              <a:rPr lang="zh-TW" altLang="en-US" sz="1200" b="0" i="1" dirty="0"/>
              <a:t>中間有哪些安全檢查。</a:t>
            </a:r>
          </a:p>
          <a:p>
            <a:endParaRPr lang="zh-TW" altLang="en-US" sz="1200" b="0" i="1" dirty="0"/>
          </a:p>
          <a:p>
            <a:r>
              <a:rPr lang="zh-TW" altLang="en-US" sz="1200" b="0" i="1" dirty="0"/>
              <a:t>先看最左邊，唯一公開的登入入口是 </a:t>
            </a:r>
            <a:r>
              <a:rPr lang="en-US" sz="1200" b="0" i="1" dirty="0"/>
              <a:t>POST /</a:t>
            </a:r>
            <a:r>
              <a:rPr lang="en-US" sz="1200" b="0" i="1" dirty="0" err="1"/>
              <a:t>api</a:t>
            </a:r>
            <a:r>
              <a:rPr lang="en-US" sz="1200" b="0" i="1" dirty="0"/>
              <a:t>/auth/login。</a:t>
            </a:r>
            <a:r>
              <a:rPr lang="zh-TW" altLang="en-US" sz="1200" b="0" i="1" dirty="0"/>
              <a:t>登入成功之後，系統會發一個 </a:t>
            </a:r>
            <a:r>
              <a:rPr lang="en-US" altLang="zh-TW" sz="1200" b="0" i="1" dirty="0"/>
              <a:t>8 </a:t>
            </a:r>
            <a:r>
              <a:rPr lang="zh-TW" altLang="en-US" sz="1200" b="0" i="1" dirty="0"/>
              <a:t>小時有效的 </a:t>
            </a:r>
            <a:r>
              <a:rPr lang="en-US" sz="1200" b="0" i="1" dirty="0"/>
              <a:t>JWT token。</a:t>
            </a:r>
            <a:r>
              <a:rPr lang="zh-TW" altLang="en-US" sz="1200" b="0" i="1" dirty="0"/>
              <a:t>這個 </a:t>
            </a:r>
            <a:r>
              <a:rPr lang="en-US" sz="1200" b="0" i="1" dirty="0"/>
              <a:t>token </a:t>
            </a:r>
            <a:r>
              <a:rPr lang="zh-TW" altLang="en-US" sz="1200" b="0" i="1" dirty="0"/>
              <a:t>後面每次呼叫 </a:t>
            </a:r>
            <a:r>
              <a:rPr lang="en-US" sz="1200" b="0" i="1" dirty="0"/>
              <a:t>protected API </a:t>
            </a:r>
            <a:r>
              <a:rPr lang="zh-TW" altLang="en-US" sz="1200" b="0" i="1" dirty="0"/>
              <a:t>時，都會放在 </a:t>
            </a:r>
            <a:r>
              <a:rPr lang="en-US" sz="1200" b="0" i="1" dirty="0"/>
              <a:t>Authorization Bearer token </a:t>
            </a:r>
            <a:r>
              <a:rPr lang="zh-TW" altLang="en-US" sz="1200" b="0" i="1" dirty="0"/>
              <a:t>裡面帶進來。</a:t>
            </a:r>
          </a:p>
          <a:p>
            <a:endParaRPr lang="zh-TW" altLang="en-US" sz="1200" b="0" i="1" dirty="0"/>
          </a:p>
          <a:p>
            <a:r>
              <a:rPr lang="zh-TW" altLang="en-US" sz="1200" b="0" i="1" dirty="0"/>
              <a:t>中間這段是部署到 </a:t>
            </a:r>
            <a:r>
              <a:rPr lang="en-US" sz="1200" b="0" i="1" dirty="0"/>
              <a:t>Kubernetes </a:t>
            </a:r>
            <a:r>
              <a:rPr lang="zh-TW" altLang="en-US" sz="1200" b="0" i="1" dirty="0"/>
              <a:t>之後的入口防線。</a:t>
            </a:r>
            <a:r>
              <a:rPr lang="en-US" sz="1200" b="0" i="1" dirty="0"/>
              <a:t>NGINX Ingress </a:t>
            </a:r>
            <a:r>
              <a:rPr lang="zh-TW" altLang="en-US" sz="1200" b="0" i="1" dirty="0"/>
              <a:t>可以對 </a:t>
            </a:r>
            <a:r>
              <a:rPr lang="en-US" altLang="zh-TW" sz="1200" b="0" i="1" dirty="0"/>
              <a:t>/</a:t>
            </a:r>
            <a:r>
              <a:rPr lang="en-US" sz="1200" b="0" i="1" dirty="0" err="1"/>
              <a:t>api</a:t>
            </a:r>
            <a:r>
              <a:rPr lang="en-US" sz="1200" b="0" i="1" dirty="0"/>
              <a:t> </a:t>
            </a:r>
            <a:r>
              <a:rPr lang="zh-TW" altLang="en-US" sz="1200" b="0" i="1" dirty="0"/>
              <a:t>這個 </a:t>
            </a:r>
            <a:r>
              <a:rPr lang="en-US" sz="1200" b="0" i="1" dirty="0"/>
              <a:t>prefix </a:t>
            </a:r>
            <a:r>
              <a:rPr lang="zh-TW" altLang="en-US" sz="1200" b="0" i="1" dirty="0"/>
              <a:t>啟用 </a:t>
            </a:r>
            <a:r>
              <a:rPr lang="en-US" sz="1200" b="0" i="1" dirty="0"/>
              <a:t>auth-</a:t>
            </a:r>
            <a:r>
              <a:rPr lang="en-US" sz="1200" b="0" i="1" dirty="0" err="1"/>
              <a:t>url</a:t>
            </a:r>
            <a:r>
              <a:rPr lang="en-US" sz="1200" b="0" i="1" dirty="0"/>
              <a:t>，</a:t>
            </a:r>
            <a:r>
              <a:rPr lang="zh-TW" altLang="en-US" sz="1200" b="0" i="1" dirty="0"/>
              <a:t>所以 </a:t>
            </a:r>
            <a:r>
              <a:rPr lang="en-US" sz="1200" b="0" i="1" dirty="0"/>
              <a:t>request </a:t>
            </a:r>
            <a:r>
              <a:rPr lang="zh-TW" altLang="en-US" sz="1200" b="0" i="1" dirty="0"/>
              <a:t>進來時，</a:t>
            </a:r>
            <a:r>
              <a:rPr lang="en-US" sz="1200" b="0" i="1" dirty="0"/>
              <a:t>Ingress </a:t>
            </a:r>
            <a:r>
              <a:rPr lang="zh-TW" altLang="en-US" sz="1200" b="0" i="1" dirty="0"/>
              <a:t>會先呼叫 </a:t>
            </a:r>
            <a:r>
              <a:rPr lang="en-US" altLang="zh-TW" sz="1200" b="0" i="1" dirty="0"/>
              <a:t>/</a:t>
            </a:r>
            <a:r>
              <a:rPr lang="en-US" sz="1200" b="0" i="1" dirty="0"/>
              <a:t>internal/auth/verify </a:t>
            </a:r>
            <a:r>
              <a:rPr lang="zh-TW" altLang="en-US" sz="1200" b="0" i="1" dirty="0"/>
              <a:t>做一層入口驗證。不過這裡的重點是，</a:t>
            </a:r>
            <a:r>
              <a:rPr lang="en-US" sz="1200" b="0" i="1" dirty="0"/>
              <a:t>Ingress </a:t>
            </a:r>
            <a:r>
              <a:rPr lang="zh-TW" altLang="en-US" sz="1200" b="0" i="1" dirty="0"/>
              <a:t>不是唯一的安全邊界。</a:t>
            </a:r>
            <a:r>
              <a:rPr lang="en-US" sz="1200" b="0" i="1" dirty="0"/>
              <a:t>request </a:t>
            </a:r>
            <a:r>
              <a:rPr lang="zh-TW" altLang="en-US" sz="1200" b="0" i="1" dirty="0"/>
              <a:t>進到 </a:t>
            </a:r>
            <a:r>
              <a:rPr lang="en-US" sz="1200" b="0" i="1" dirty="0"/>
              <a:t>Go API </a:t>
            </a:r>
            <a:r>
              <a:rPr lang="zh-TW" altLang="en-US" sz="1200" b="0" i="1" dirty="0"/>
              <a:t>之後，</a:t>
            </a:r>
            <a:r>
              <a:rPr lang="en-US" sz="1200" b="0" i="1" dirty="0"/>
              <a:t>Go API </a:t>
            </a:r>
            <a:r>
              <a:rPr lang="zh-TW" altLang="en-US" sz="1200" b="0" i="1" dirty="0"/>
              <a:t>還是會自己檢查 </a:t>
            </a:r>
            <a:r>
              <a:rPr lang="en-US" sz="1200" b="0" i="1" dirty="0" err="1"/>
              <a:t>JWT、claims</a:t>
            </a:r>
            <a:r>
              <a:rPr lang="en-US" sz="1200" b="0" i="1" dirty="0"/>
              <a:t>，</a:t>
            </a:r>
            <a:r>
              <a:rPr lang="zh-TW" altLang="en-US" sz="1200" b="0" i="1" dirty="0"/>
              <a:t>還有 </a:t>
            </a:r>
            <a:r>
              <a:rPr lang="en-US" sz="1200" b="0" i="1" dirty="0"/>
              <a:t>RBAC。</a:t>
            </a:r>
          </a:p>
          <a:p>
            <a:endParaRPr lang="en-US" sz="1200" b="0" i="1" dirty="0"/>
          </a:p>
          <a:p>
            <a:r>
              <a:rPr lang="zh-TW" altLang="en-US" sz="1200" b="0" i="1" dirty="0"/>
              <a:t>下面的 </a:t>
            </a:r>
            <a:r>
              <a:rPr lang="en-US" sz="1200" b="0" i="1" dirty="0"/>
              <a:t>Role Boundary </a:t>
            </a:r>
            <a:r>
              <a:rPr lang="zh-TW" altLang="en-US" sz="1200" b="0" i="1" dirty="0"/>
              <a:t>就是在講這個 </a:t>
            </a:r>
            <a:r>
              <a:rPr lang="en-US" sz="1200" b="0" i="1" dirty="0" err="1"/>
              <a:t>RBAC。admin</a:t>
            </a:r>
            <a:r>
              <a:rPr lang="en-US" sz="1200" b="0" i="1" dirty="0"/>
              <a:t> </a:t>
            </a:r>
            <a:r>
              <a:rPr lang="zh-TW" altLang="en-US" sz="1200" b="0" i="1" dirty="0"/>
              <a:t>可以管理 </a:t>
            </a:r>
            <a:r>
              <a:rPr lang="en-US" sz="1200" b="0" i="1" dirty="0"/>
              <a:t>users </a:t>
            </a:r>
            <a:r>
              <a:rPr lang="zh-TW" altLang="en-US" sz="1200" b="0" i="1" dirty="0"/>
              <a:t>和 </a:t>
            </a:r>
            <a:r>
              <a:rPr lang="en-US" sz="1200" b="0" i="1" dirty="0"/>
              <a:t>HPA </a:t>
            </a:r>
            <a:r>
              <a:rPr lang="en-US" sz="1200" b="0" i="1" dirty="0" err="1"/>
              <a:t>demo，sales</a:t>
            </a:r>
            <a:r>
              <a:rPr lang="en-US" sz="1200" b="0" i="1" dirty="0"/>
              <a:t> </a:t>
            </a:r>
            <a:r>
              <a:rPr lang="zh-TW" altLang="en-US" sz="1200" b="0" i="1" dirty="0"/>
              <a:t>主要負責 </a:t>
            </a:r>
            <a:r>
              <a:rPr lang="en-US" sz="1200" b="0" i="1" dirty="0"/>
              <a:t>orders </a:t>
            </a:r>
            <a:r>
              <a:rPr lang="zh-TW" altLang="en-US" sz="1200" b="0" i="1" dirty="0"/>
              <a:t>和 </a:t>
            </a:r>
            <a:r>
              <a:rPr lang="en-US" sz="1200" b="0" i="1" dirty="0" err="1"/>
              <a:t>preview，scheduler</a:t>
            </a:r>
            <a:r>
              <a:rPr lang="en-US" sz="1200" b="0" i="1" dirty="0"/>
              <a:t> </a:t>
            </a:r>
            <a:r>
              <a:rPr lang="zh-TW" altLang="en-US" sz="1200" b="0" i="1" dirty="0"/>
              <a:t>則負責 </a:t>
            </a:r>
            <a:r>
              <a:rPr lang="en-US" sz="1200" b="0" i="1" dirty="0"/>
              <a:t>schedule </a:t>
            </a:r>
            <a:r>
              <a:rPr lang="zh-TW" altLang="en-US" sz="1200" b="0" i="1" dirty="0"/>
              <a:t>和 </a:t>
            </a:r>
            <a:r>
              <a:rPr lang="en-US" sz="1200" b="0" i="1" dirty="0"/>
              <a:t>production。</a:t>
            </a:r>
            <a:r>
              <a:rPr lang="zh-TW" altLang="en-US" sz="1200" b="0" i="1" dirty="0"/>
              <a:t>右邊的 </a:t>
            </a:r>
            <a:r>
              <a:rPr lang="en-US" sz="1200" b="0" i="1" dirty="0"/>
              <a:t>Redis session </a:t>
            </a:r>
            <a:r>
              <a:rPr lang="zh-TW" altLang="en-US" sz="1200" b="0" i="1" dirty="0"/>
              <a:t>是 </a:t>
            </a:r>
            <a:r>
              <a:rPr lang="en-US" sz="1200" b="0" i="1" dirty="0"/>
              <a:t>optional，</a:t>
            </a:r>
            <a:r>
              <a:rPr lang="zh-TW" altLang="en-US" sz="1200" b="0" i="1" dirty="0"/>
              <a:t>主要用在需要 </a:t>
            </a:r>
            <a:r>
              <a:rPr lang="en-US" sz="1200" b="0" i="1" dirty="0"/>
              <a:t>token revocation </a:t>
            </a:r>
            <a:r>
              <a:rPr lang="zh-TW" altLang="en-US" sz="1200" b="0" i="1" dirty="0"/>
              <a:t>或集中管理 </a:t>
            </a:r>
            <a:r>
              <a:rPr lang="en-US" sz="1200" b="0" i="1" dirty="0"/>
              <a:t>session </a:t>
            </a:r>
            <a:r>
              <a:rPr lang="zh-TW" altLang="en-US" sz="1200" b="0" i="1" dirty="0"/>
              <a:t>的部署情境；所以整體來說，這一頁的 </a:t>
            </a:r>
            <a:r>
              <a:rPr lang="en-US" sz="1200" b="0" i="1" dirty="0"/>
              <a:t>takeaway </a:t>
            </a:r>
            <a:r>
              <a:rPr lang="zh-TW" altLang="en-US" sz="1200" b="0" i="1" dirty="0"/>
              <a:t>是：入口可以交給 </a:t>
            </a:r>
            <a:r>
              <a:rPr lang="en-US" sz="1200" b="0" i="1" dirty="0"/>
              <a:t>Ingress </a:t>
            </a:r>
            <a:r>
              <a:rPr lang="zh-TW" altLang="en-US" sz="1200" b="0" i="1" dirty="0"/>
              <a:t>先擋一次，但真正的授權邏輯還是收斂在 </a:t>
            </a:r>
            <a:r>
              <a:rPr lang="en-US" sz="1200" b="0" i="1" dirty="0"/>
              <a:t>Go API </a:t>
            </a:r>
            <a:r>
              <a:rPr lang="zh-TW" altLang="en-US" sz="1200" b="0" i="1" dirty="0"/>
              <a:t>裡。</a:t>
            </a:r>
            <a:endParaRPr sz="1200" b="0" i="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sz="1200" b="0" i="1" dirty="0"/>
              <a:t>這一頁我會再把資料層講得更細一點，因為排程系統最怕的不是只有「資料存不存得進去」，而是資料、</a:t>
            </a:r>
            <a:r>
              <a:rPr lang="en-US" sz="1200" b="0" i="1" dirty="0" err="1"/>
              <a:t>job、lock</a:t>
            </a:r>
            <a:r>
              <a:rPr lang="en-US" sz="1200" b="0" i="1" dirty="0"/>
              <a:t> </a:t>
            </a:r>
            <a:r>
              <a:rPr lang="zh-TW" altLang="en-US" sz="1200" b="0" i="1" dirty="0"/>
              <a:t>三件事混在一起之後，最後不知道哪一個才是可信狀態。前面我們看到 </a:t>
            </a:r>
            <a:r>
              <a:rPr lang="en-US" sz="1200" b="0" i="1" dirty="0" err="1"/>
              <a:t>API、Kafka、Worker</a:t>
            </a:r>
            <a:r>
              <a:rPr lang="en-US" sz="1200" b="0" i="1" dirty="0"/>
              <a:t> </a:t>
            </a:r>
            <a:r>
              <a:rPr lang="zh-TW" altLang="en-US" sz="1200" b="0" i="1" dirty="0"/>
              <a:t>都會參與排程流程，那這裡要回答的是：哪些資料是事實、哪些只是工作佇列、哪些是短時間的協調狀態。</a:t>
            </a:r>
          </a:p>
          <a:p>
            <a:endParaRPr lang="zh-TW" altLang="en-US" sz="1200" b="0" i="1" dirty="0"/>
          </a:p>
          <a:p>
            <a:r>
              <a:rPr lang="zh-TW" altLang="en-US" sz="1200" b="0" i="1" dirty="0"/>
              <a:t>中間的 </a:t>
            </a:r>
            <a:r>
              <a:rPr lang="en-US" sz="1200" b="0" i="1" dirty="0"/>
              <a:t>PostgreSQL </a:t>
            </a:r>
            <a:r>
              <a:rPr lang="zh-TW" altLang="en-US" sz="1200" b="0" i="1" dirty="0"/>
              <a:t>是說，如果我們要追一筆訂單現在排到哪裡、</a:t>
            </a:r>
            <a:r>
              <a:rPr lang="en-US" sz="1200" b="0" i="1" dirty="0"/>
              <a:t>job </a:t>
            </a:r>
            <a:r>
              <a:rPr lang="zh-TW" altLang="en-US" sz="1200" b="0" i="1" dirty="0"/>
              <a:t>成功或失敗、曾經有沒有人工介入，最終都會回來看 </a:t>
            </a:r>
            <a:r>
              <a:rPr lang="en-US" sz="1200" b="0" i="1" dirty="0"/>
              <a:t>PostgreSQL。</a:t>
            </a:r>
          </a:p>
          <a:p>
            <a:endParaRPr lang="en-US" sz="1200" b="0" i="1" dirty="0"/>
          </a:p>
          <a:p>
            <a:r>
              <a:rPr lang="zh-TW" altLang="en-US" sz="1200" b="0" i="1" dirty="0"/>
              <a:t>左邊的 </a:t>
            </a:r>
            <a:r>
              <a:rPr lang="en-US" sz="1200" b="0" i="1" dirty="0"/>
              <a:t>Go API </a:t>
            </a:r>
            <a:r>
              <a:rPr lang="zh-TW" altLang="en-US" sz="1200" b="0" i="1" dirty="0"/>
              <a:t>負責讀寫 </a:t>
            </a:r>
            <a:r>
              <a:rPr lang="en-US" sz="1200" b="0" i="1" dirty="0"/>
              <a:t>PostgreSQL，</a:t>
            </a:r>
            <a:r>
              <a:rPr lang="zh-TW" altLang="en-US" sz="1200" b="0" i="1" dirty="0"/>
              <a:t>例如建立訂單、產生 </a:t>
            </a:r>
            <a:r>
              <a:rPr lang="en-US" sz="1200" b="0" i="1" dirty="0"/>
              <a:t>preview、</a:t>
            </a:r>
            <a:r>
              <a:rPr lang="zh-TW" altLang="en-US" sz="1200" b="0" i="1" dirty="0"/>
              <a:t>建立 </a:t>
            </a:r>
            <a:r>
              <a:rPr lang="en-US" sz="1200" b="0" i="1" dirty="0"/>
              <a:t>schedule job；</a:t>
            </a:r>
            <a:r>
              <a:rPr lang="zh-TW" altLang="en-US" sz="1200" b="0" i="1" dirty="0"/>
              <a:t>但當它要觸發比較重的排程落地流程時，不會把整件事同步做完。原因是 </a:t>
            </a:r>
            <a:r>
              <a:rPr lang="en-US" sz="1200" b="0" i="1" dirty="0"/>
              <a:t>schedule job </a:t>
            </a:r>
            <a:r>
              <a:rPr lang="zh-TW" altLang="en-US" sz="1200" b="0" i="1" dirty="0"/>
              <a:t>可能牽涉多筆 </a:t>
            </a:r>
            <a:r>
              <a:rPr lang="en-US" sz="1200" b="0" i="1" dirty="0"/>
              <a:t>allocation、</a:t>
            </a:r>
            <a:r>
              <a:rPr lang="zh-TW" altLang="en-US" sz="1200" b="0" i="1" dirty="0"/>
              <a:t>產線容量檢查、狀態轉換和 </a:t>
            </a:r>
            <a:r>
              <a:rPr lang="en-US" sz="1200" b="0" i="1" dirty="0"/>
              <a:t>audit，</a:t>
            </a:r>
            <a:r>
              <a:rPr lang="zh-TW" altLang="en-US" sz="1200" b="0" i="1" dirty="0"/>
              <a:t>如果全部卡在 </a:t>
            </a:r>
            <a:r>
              <a:rPr lang="en-US" sz="1200" b="0" i="1" dirty="0"/>
              <a:t>HTTP request </a:t>
            </a:r>
            <a:r>
              <a:rPr lang="zh-TW" altLang="en-US" sz="1200" b="0" i="1" dirty="0"/>
              <a:t>裡，使用者體驗和失敗處理都會變差。</a:t>
            </a:r>
          </a:p>
          <a:p>
            <a:endParaRPr lang="zh-TW" altLang="en-US" sz="1200" b="0" i="1" dirty="0"/>
          </a:p>
          <a:p>
            <a:r>
              <a:rPr lang="zh-TW" altLang="en-US" sz="1200" b="0" i="1" dirty="0"/>
              <a:t>所以右邊的 </a:t>
            </a:r>
            <a:r>
              <a:rPr lang="en-US" sz="1200" b="0" i="1" dirty="0"/>
              <a:t>Kafka </a:t>
            </a:r>
            <a:r>
              <a:rPr lang="zh-TW" altLang="en-US" sz="1200" b="0" i="1" dirty="0"/>
              <a:t>是 </a:t>
            </a:r>
            <a:r>
              <a:rPr lang="en-US" sz="1200" b="0" i="1" dirty="0"/>
              <a:t>async </a:t>
            </a:r>
            <a:r>
              <a:rPr lang="en-US" sz="1200" b="0" i="1" dirty="0" err="1"/>
              <a:t>queue。API</a:t>
            </a:r>
            <a:r>
              <a:rPr lang="en-US" sz="1200" b="0" i="1" dirty="0"/>
              <a:t> </a:t>
            </a:r>
            <a:r>
              <a:rPr lang="zh-TW" altLang="en-US" sz="1200" b="0" i="1" dirty="0"/>
              <a:t>建立 </a:t>
            </a:r>
            <a:r>
              <a:rPr lang="en-US" sz="1200" b="0" i="1" dirty="0"/>
              <a:t>schedule job </a:t>
            </a:r>
            <a:r>
              <a:rPr lang="zh-TW" altLang="en-US" sz="1200" b="0" i="1" dirty="0"/>
              <a:t>之後，會把 </a:t>
            </a:r>
            <a:r>
              <a:rPr lang="en-US" sz="1200" b="0" i="1" dirty="0"/>
              <a:t>job publish </a:t>
            </a:r>
            <a:r>
              <a:rPr lang="zh-TW" altLang="en-US" sz="1200" b="0" i="1" dirty="0"/>
              <a:t>到 </a:t>
            </a:r>
            <a:r>
              <a:rPr lang="en-US" sz="1200" b="0" i="1" dirty="0" err="1"/>
              <a:t>woms.schedule.jobs</a:t>
            </a:r>
            <a:r>
              <a:rPr lang="en-US" sz="1200" b="0" i="1" dirty="0"/>
              <a:t>，</a:t>
            </a:r>
            <a:r>
              <a:rPr lang="zh-TW" altLang="en-US" sz="1200" b="0" i="1" dirty="0"/>
              <a:t>接著由 </a:t>
            </a:r>
            <a:r>
              <a:rPr lang="en-US" sz="1200" b="0" i="1" dirty="0"/>
              <a:t>worker consume。</a:t>
            </a:r>
            <a:r>
              <a:rPr lang="zh-TW" altLang="en-US" sz="1200" b="0" i="1" dirty="0"/>
              <a:t>這樣 </a:t>
            </a:r>
            <a:r>
              <a:rPr lang="en-US" sz="1200" b="0" i="1" dirty="0"/>
              <a:t>API </a:t>
            </a:r>
            <a:r>
              <a:rPr lang="zh-TW" altLang="en-US" sz="1200" b="0" i="1" dirty="0"/>
              <a:t>可以很快回應「</a:t>
            </a:r>
            <a:r>
              <a:rPr lang="en-US" sz="1200" b="0" i="1" dirty="0"/>
              <a:t>job </a:t>
            </a:r>
            <a:r>
              <a:rPr lang="zh-TW" altLang="en-US" sz="1200" b="0" i="1" dirty="0"/>
              <a:t>已建立」，真正的排程落地則交給 </a:t>
            </a:r>
            <a:r>
              <a:rPr lang="en-US" sz="1200" b="0" i="1" dirty="0"/>
              <a:t>worker </a:t>
            </a:r>
            <a:r>
              <a:rPr lang="zh-TW" altLang="en-US" sz="1200" b="0" i="1" dirty="0"/>
              <a:t>做。</a:t>
            </a:r>
            <a:r>
              <a:rPr lang="en-US" sz="1200" b="0" i="1" dirty="0"/>
              <a:t>Worker </a:t>
            </a:r>
            <a:r>
              <a:rPr lang="zh-TW" altLang="en-US" sz="1200" b="0" i="1" dirty="0"/>
              <a:t>做完之後，再把結果 </a:t>
            </a:r>
            <a:r>
              <a:rPr lang="en-US" sz="1200" b="0" i="1" dirty="0"/>
              <a:t>persist </a:t>
            </a:r>
            <a:r>
              <a:rPr lang="zh-TW" altLang="en-US" sz="1200" b="0" i="1" dirty="0"/>
              <a:t>回 </a:t>
            </a:r>
            <a:r>
              <a:rPr lang="en-US" sz="1200" b="0" i="1" dirty="0"/>
              <a:t>PostgreSQL，</a:t>
            </a:r>
            <a:r>
              <a:rPr lang="zh-TW" altLang="en-US" sz="1200" b="0" i="1" dirty="0"/>
              <a:t>包含 </a:t>
            </a:r>
            <a:r>
              <a:rPr lang="en-US" sz="1200" b="0" i="1" dirty="0" err="1"/>
              <a:t>allocations、job</a:t>
            </a:r>
            <a:r>
              <a:rPr lang="en-US" sz="1200" b="0" i="1" dirty="0"/>
              <a:t> status，</a:t>
            </a:r>
            <a:r>
              <a:rPr lang="zh-TW" altLang="en-US" sz="1200" b="0" i="1" dirty="0"/>
              <a:t>還有需要追蹤的 </a:t>
            </a:r>
            <a:r>
              <a:rPr lang="en-US" sz="1200" b="0" i="1" dirty="0"/>
              <a:t>audit record。</a:t>
            </a:r>
          </a:p>
          <a:p>
            <a:endParaRPr lang="en-US" sz="1200" b="0" i="1" dirty="0"/>
          </a:p>
          <a:p>
            <a:r>
              <a:rPr lang="zh-TW" altLang="en-US" sz="1200" b="0" i="1" dirty="0"/>
              <a:t>左下角的 </a:t>
            </a:r>
            <a:r>
              <a:rPr lang="en-US" sz="1200" b="0" i="1" dirty="0"/>
              <a:t>Redis </a:t>
            </a:r>
            <a:r>
              <a:rPr lang="zh-TW" altLang="en-US" sz="1200" b="0" i="1" dirty="0"/>
              <a:t>則是比較短生命週期的協調工具。它可以放 </a:t>
            </a:r>
            <a:r>
              <a:rPr lang="en-US" sz="1200" b="0" i="1" dirty="0"/>
              <a:t>optional auth sessions，</a:t>
            </a:r>
            <a:r>
              <a:rPr lang="zh-TW" altLang="en-US" sz="1200" b="0" i="1" dirty="0"/>
              <a:t>但這頁更重要的是 </a:t>
            </a:r>
            <a:r>
              <a:rPr lang="en-US" sz="1200" b="0" i="1" dirty="0"/>
              <a:t>line locks，</a:t>
            </a:r>
            <a:r>
              <a:rPr lang="zh-TW" altLang="en-US" sz="1200" b="0" i="1" dirty="0"/>
              <a:t>也就是 </a:t>
            </a:r>
            <a:r>
              <a:rPr lang="en-US" sz="1200" b="0" i="1" dirty="0"/>
              <a:t>per-production-line lock。</a:t>
            </a:r>
            <a:r>
              <a:rPr lang="zh-TW" altLang="en-US" sz="1200" b="0" i="1" dirty="0"/>
              <a:t>因為排程最怕的是兩個 </a:t>
            </a:r>
            <a:r>
              <a:rPr lang="en-US" sz="1200" b="0" i="1" dirty="0"/>
              <a:t>worker </a:t>
            </a:r>
            <a:r>
              <a:rPr lang="zh-TW" altLang="en-US" sz="1200" b="0" i="1" dirty="0"/>
              <a:t>同時改同一條產線，造成 </a:t>
            </a:r>
            <a:r>
              <a:rPr lang="en-US" sz="1200" b="0" i="1" dirty="0"/>
              <a:t>overlapping allocations，</a:t>
            </a:r>
            <a:r>
              <a:rPr lang="zh-TW" altLang="en-US" sz="1200" b="0" i="1" dirty="0"/>
              <a:t>所以 </a:t>
            </a:r>
            <a:r>
              <a:rPr lang="en-US" sz="1200" b="0" i="1" dirty="0"/>
              <a:t>worker </a:t>
            </a:r>
            <a:r>
              <a:rPr lang="zh-TW" altLang="en-US" sz="1200" b="0" i="1" dirty="0"/>
              <a:t>寫入前會先拿 </a:t>
            </a:r>
            <a:r>
              <a:rPr lang="en-US" sz="1200" b="0" i="1" dirty="0"/>
              <a:t>lock；</a:t>
            </a:r>
            <a:r>
              <a:rPr lang="zh-TW" altLang="en-US" sz="1200" b="0" i="1" dirty="0"/>
              <a:t>拿不到就代表現在有人正在處理同一條產線，這時就不應該硬寫。</a:t>
            </a:r>
          </a:p>
          <a:p>
            <a:endParaRPr lang="zh-TW" altLang="en-US" sz="1200" b="0" i="1" dirty="0"/>
          </a:p>
          <a:p>
            <a:r>
              <a:rPr lang="zh-TW" altLang="en-US" sz="1200" b="0" i="1" dirty="0"/>
              <a:t>下面的 </a:t>
            </a:r>
            <a:r>
              <a:rPr lang="en-US" sz="1200" b="0" i="1" dirty="0"/>
              <a:t>consistency guard </a:t>
            </a:r>
            <a:r>
              <a:rPr lang="zh-TW" altLang="en-US" sz="1200" b="0" i="1" dirty="0"/>
              <a:t>是第二層保護。</a:t>
            </a:r>
            <a:r>
              <a:rPr lang="en-US" sz="1200" b="0" i="1" dirty="0" err="1"/>
              <a:t>schedule_revision</a:t>
            </a:r>
            <a:r>
              <a:rPr lang="en-US" sz="1200" b="0" i="1" dirty="0"/>
              <a:t> </a:t>
            </a:r>
            <a:r>
              <a:rPr lang="zh-TW" altLang="en-US" sz="1200" b="0" i="1" dirty="0"/>
              <a:t>用來確認產線排程版本沒有被別人先改掉，</a:t>
            </a:r>
            <a:r>
              <a:rPr lang="en-US" sz="1200" b="0" i="1" dirty="0"/>
              <a:t>preview </a:t>
            </a:r>
            <a:r>
              <a:rPr lang="en-US" sz="1200" b="0" i="1" dirty="0" err="1"/>
              <a:t>request_hash</a:t>
            </a:r>
            <a:r>
              <a:rPr lang="en-US" sz="1200" b="0" i="1" dirty="0"/>
              <a:t> </a:t>
            </a:r>
            <a:r>
              <a:rPr lang="zh-TW" altLang="en-US" sz="1200" b="0" i="1" dirty="0"/>
              <a:t>用來確認使用者確認的 </a:t>
            </a:r>
            <a:r>
              <a:rPr lang="en-US" sz="1200" b="0" i="1" dirty="0"/>
              <a:t>preview </a:t>
            </a:r>
            <a:r>
              <a:rPr lang="zh-TW" altLang="en-US" sz="1200" b="0" i="1" dirty="0"/>
              <a:t>跟現在要建立的 </a:t>
            </a:r>
            <a:r>
              <a:rPr lang="en-US" sz="1200" b="0" i="1" dirty="0"/>
              <a:t>job </a:t>
            </a:r>
            <a:r>
              <a:rPr lang="zh-TW" altLang="en-US" sz="1200" b="0" i="1" dirty="0"/>
              <a:t>是同一個輸入條件，</a:t>
            </a:r>
            <a:r>
              <a:rPr lang="en-US" sz="1200" b="0" i="1" dirty="0"/>
              <a:t>job status transition </a:t>
            </a:r>
            <a:r>
              <a:rPr lang="zh-TW" altLang="en-US" sz="1200" b="0" i="1" dirty="0"/>
              <a:t>則避免已完成或失敗的 </a:t>
            </a:r>
            <a:r>
              <a:rPr lang="en-US" sz="1200" b="0" i="1" dirty="0"/>
              <a:t>job </a:t>
            </a:r>
            <a:r>
              <a:rPr lang="zh-TW" altLang="en-US" sz="1200" b="0" i="1" dirty="0"/>
              <a:t>被重複推進。這三個 </a:t>
            </a:r>
            <a:r>
              <a:rPr lang="en-US" sz="1200" b="0" i="1" dirty="0"/>
              <a:t>guard </a:t>
            </a:r>
            <a:r>
              <a:rPr lang="zh-TW" altLang="en-US" sz="1200" b="0" i="1" dirty="0"/>
              <a:t>合起來，就是在處理分散式流程裡很常見的問題：</a:t>
            </a:r>
            <a:r>
              <a:rPr lang="en-US" sz="1200" b="0" i="1" dirty="0"/>
              <a:t>job </a:t>
            </a:r>
            <a:r>
              <a:rPr lang="zh-TW" altLang="en-US" sz="1200" b="0" i="1" dirty="0"/>
              <a:t>可以非同步，但資料不能因此失去一致性。</a:t>
            </a:r>
          </a:p>
          <a:p>
            <a:endParaRPr lang="zh-TW" altLang="en-US" sz="1200" b="0" i="1" dirty="0"/>
          </a:p>
          <a:p>
            <a:r>
              <a:rPr lang="zh-TW" altLang="en-US" sz="1200" b="0" i="1" dirty="0"/>
              <a:t>所以這一頁的 </a:t>
            </a:r>
            <a:r>
              <a:rPr lang="en-US" sz="1200" b="0" i="1" dirty="0"/>
              <a:t>takeaway </a:t>
            </a:r>
            <a:r>
              <a:rPr lang="zh-TW" altLang="en-US" sz="1200" b="0" i="1" dirty="0"/>
              <a:t>是：</a:t>
            </a:r>
            <a:r>
              <a:rPr lang="en-US" sz="1200" b="0" i="1" dirty="0"/>
              <a:t>PostgreSQL </a:t>
            </a:r>
            <a:r>
              <a:rPr lang="zh-TW" altLang="en-US" sz="1200" b="0" i="1" dirty="0"/>
              <a:t>管長期事實，</a:t>
            </a:r>
            <a:r>
              <a:rPr lang="en-US" sz="1200" b="0" i="1" dirty="0"/>
              <a:t>Kafka </a:t>
            </a:r>
            <a:r>
              <a:rPr lang="zh-TW" altLang="en-US" sz="1200" b="0" i="1" dirty="0"/>
              <a:t>管非同步工作流，</a:t>
            </a:r>
            <a:r>
              <a:rPr lang="en-US" sz="1200" b="0" i="1" dirty="0"/>
              <a:t>Redis </a:t>
            </a:r>
            <a:r>
              <a:rPr lang="zh-TW" altLang="en-US" sz="1200" b="0" i="1" dirty="0"/>
              <a:t>管短時間互斥，而 </a:t>
            </a:r>
            <a:r>
              <a:rPr lang="en-US" sz="1200" b="0" i="1" dirty="0"/>
              <a:t>consistency guard </a:t>
            </a:r>
            <a:r>
              <a:rPr lang="zh-TW" altLang="en-US" sz="1200" b="0" i="1" dirty="0"/>
              <a:t>負責確認「現在要寫入的結果，仍然對應到當初被審查過的 </a:t>
            </a:r>
            <a:r>
              <a:rPr lang="en-US" sz="1200" b="0" i="1" dirty="0"/>
              <a:t>preview」。</a:t>
            </a:r>
            <a:r>
              <a:rPr lang="zh-TW" altLang="en-US" sz="1200" b="0" i="1" dirty="0"/>
              <a:t>這樣排程流程才可以同時做到非同步、可追蹤，而且不容易產生重複或過期的排程結果。</a:t>
            </a:r>
            <a:endParaRPr sz="1200" b="0" i="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84B37-6F98-C09E-00C2-EF138F27C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BF1326-3A4A-1B65-F594-4E8DBB809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3BBF9-1047-936C-E6C0-4AA4DEDE3944}"/>
              </a:ext>
            </a:extLst>
          </p:cNvPr>
          <p:cNvSpPr>
            <a:spLocks noGrp="1"/>
          </p:cNvSpPr>
          <p:nvPr>
            <p:ph type="body" idx="1"/>
          </p:nvPr>
        </p:nvSpPr>
        <p:spPr/>
        <p:txBody>
          <a:bodyPr/>
          <a:lstStyle/>
          <a:p>
            <a:r>
              <a:rPr lang="zh-TW" altLang="en-US" sz="1200" b="0" i="1" dirty="0"/>
              <a:t>接下來這頁是 </a:t>
            </a:r>
            <a:r>
              <a:rPr lang="en-US" sz="1200" b="0" i="1" dirty="0"/>
              <a:t>Monitoring and Autoscaling。</a:t>
            </a:r>
            <a:r>
              <a:rPr lang="zh-TW" altLang="en-US" sz="1200" b="0" i="1" dirty="0"/>
              <a:t>這裡我想特別講清楚，因為很容易把它想成 </a:t>
            </a:r>
            <a:r>
              <a:rPr lang="en-US" sz="1200" b="0" i="1" dirty="0"/>
              <a:t>worker </a:t>
            </a:r>
            <a:r>
              <a:rPr lang="zh-TW" altLang="en-US" sz="1200" b="0" i="1" dirty="0"/>
              <a:t>根據 </a:t>
            </a:r>
            <a:r>
              <a:rPr lang="en-US" sz="1200" b="0" i="1" dirty="0"/>
              <a:t>Kafka lag </a:t>
            </a:r>
            <a:r>
              <a:rPr lang="en-US" sz="1200" b="0" i="1" dirty="0" err="1"/>
              <a:t>autoscale</a:t>
            </a:r>
            <a:r>
              <a:rPr lang="en-US" sz="1200" b="0" i="1" dirty="0"/>
              <a:t>；</a:t>
            </a:r>
            <a:r>
              <a:rPr lang="zh-TW" altLang="en-US" sz="1200" b="0" i="1" dirty="0"/>
              <a:t>但目前 </a:t>
            </a:r>
            <a:r>
              <a:rPr lang="en-US" sz="1200" b="0" i="1" dirty="0"/>
              <a:t>repo </a:t>
            </a:r>
            <a:r>
              <a:rPr lang="zh-TW" altLang="en-US" sz="1200" b="0" i="1" dirty="0"/>
              <a:t>裡實作的 </a:t>
            </a:r>
            <a:r>
              <a:rPr lang="en-US" sz="1200" b="0" i="1" dirty="0"/>
              <a:t>active demo scenario，</a:t>
            </a:r>
            <a:r>
              <a:rPr lang="zh-TW" altLang="en-US" sz="1200" b="0" i="1" dirty="0"/>
              <a:t>是 </a:t>
            </a:r>
            <a:r>
              <a:rPr lang="en-US" sz="1200" b="0" i="1" dirty="0"/>
              <a:t>web pods </a:t>
            </a:r>
            <a:r>
              <a:rPr lang="zh-TW" altLang="en-US" sz="1200" b="0" i="1" dirty="0"/>
              <a:t>根據 </a:t>
            </a:r>
            <a:r>
              <a:rPr lang="en-US" sz="1200" b="0" i="1" dirty="0"/>
              <a:t>request rate </a:t>
            </a:r>
            <a:r>
              <a:rPr lang="zh-TW" altLang="en-US" sz="1200" b="0" i="1" dirty="0"/>
              <a:t>來 </a:t>
            </a:r>
            <a:r>
              <a:rPr lang="en-US" sz="1200" b="0" i="1" dirty="0"/>
              <a:t>scale in </a:t>
            </a:r>
            <a:r>
              <a:rPr lang="zh-TW" altLang="en-US" sz="1200" b="0" i="1" dirty="0"/>
              <a:t>和 </a:t>
            </a:r>
            <a:r>
              <a:rPr lang="en-US" sz="1200" b="0" i="1" dirty="0"/>
              <a:t>scale out。</a:t>
            </a:r>
          </a:p>
          <a:p>
            <a:endParaRPr lang="en-US" sz="1200" b="0" i="1" dirty="0"/>
          </a:p>
          <a:p>
            <a:r>
              <a:rPr lang="zh-TW" altLang="en-US" sz="1200" b="0" i="1" dirty="0"/>
              <a:t>先看左邊。</a:t>
            </a:r>
            <a:r>
              <a:rPr lang="en-US" sz="1200" b="0" i="1" dirty="0"/>
              <a:t>Web pods </a:t>
            </a:r>
            <a:r>
              <a:rPr lang="zh-TW" altLang="en-US" sz="1200" b="0" i="1" dirty="0"/>
              <a:t>裡面有 </a:t>
            </a:r>
            <a:r>
              <a:rPr lang="en-US" sz="1200" b="0" i="1" dirty="0"/>
              <a:t>NGINX exporter，</a:t>
            </a:r>
            <a:r>
              <a:rPr lang="zh-TW" altLang="en-US" sz="1200" b="0" i="1" dirty="0"/>
              <a:t>會在 </a:t>
            </a:r>
            <a:r>
              <a:rPr lang="en-US" altLang="zh-TW" sz="1200" b="0" i="1" dirty="0"/>
              <a:t>9113 </a:t>
            </a:r>
            <a:r>
              <a:rPr lang="en-US" sz="1200" b="0" i="1" dirty="0"/>
              <a:t>port </a:t>
            </a:r>
            <a:r>
              <a:rPr lang="zh-TW" altLang="en-US" sz="1200" b="0" i="1" dirty="0"/>
              <a:t>暴露 </a:t>
            </a:r>
            <a:r>
              <a:rPr lang="en-US" sz="1200" b="0" i="1" dirty="0" err="1"/>
              <a:t>nginx_http_requests_total。API</a:t>
            </a:r>
            <a:r>
              <a:rPr lang="en-US" sz="1200" b="0" i="1" dirty="0"/>
              <a:t> pods </a:t>
            </a:r>
            <a:r>
              <a:rPr lang="zh-TW" altLang="en-US" sz="1200" b="0" i="1" dirty="0"/>
              <a:t>也有 </a:t>
            </a:r>
            <a:r>
              <a:rPr lang="en-US" altLang="zh-TW" sz="1200" b="0" i="1" dirty="0"/>
              <a:t>/</a:t>
            </a:r>
            <a:r>
              <a:rPr lang="en-US" sz="1200" b="0" i="1" dirty="0"/>
              <a:t>metrics，</a:t>
            </a:r>
            <a:r>
              <a:rPr lang="zh-TW" altLang="en-US" sz="1200" b="0" i="1" dirty="0"/>
              <a:t>所以 </a:t>
            </a:r>
            <a:r>
              <a:rPr lang="en-US" sz="1200" b="0" i="1" dirty="0"/>
              <a:t>Prometheus </a:t>
            </a:r>
            <a:r>
              <a:rPr lang="zh-TW" altLang="en-US" sz="1200" b="0" i="1" dirty="0"/>
              <a:t>會同時 </a:t>
            </a:r>
            <a:r>
              <a:rPr lang="en-US" sz="1200" b="0" i="1" dirty="0"/>
              <a:t>scrape API metrics </a:t>
            </a:r>
            <a:r>
              <a:rPr lang="zh-TW" altLang="en-US" sz="1200" b="0" i="1" dirty="0"/>
              <a:t>和 </a:t>
            </a:r>
            <a:r>
              <a:rPr lang="en-US" sz="1200" b="0" i="1" dirty="0"/>
              <a:t>web-nginx metrics。</a:t>
            </a:r>
            <a:r>
              <a:rPr lang="zh-TW" altLang="en-US" sz="1200" b="0" i="1" dirty="0"/>
              <a:t>這些 </a:t>
            </a:r>
            <a:r>
              <a:rPr lang="en-US" sz="1200" b="0" i="1" dirty="0"/>
              <a:t>metrics </a:t>
            </a:r>
            <a:r>
              <a:rPr lang="zh-TW" altLang="en-US" sz="1200" b="0" i="1" dirty="0"/>
              <a:t>進到 </a:t>
            </a:r>
            <a:r>
              <a:rPr lang="en-US" sz="1200" b="0" i="1" dirty="0"/>
              <a:t>Prometheus </a:t>
            </a:r>
            <a:r>
              <a:rPr lang="zh-TW" altLang="en-US" sz="1200" b="0" i="1" dirty="0"/>
              <a:t>後，右邊的 </a:t>
            </a:r>
            <a:r>
              <a:rPr lang="en-US" sz="1200" b="0" i="1" dirty="0"/>
              <a:t>KEDA </a:t>
            </a:r>
            <a:r>
              <a:rPr lang="en-US" sz="1200" b="0" i="1" dirty="0" err="1"/>
              <a:t>ScaledObject</a:t>
            </a:r>
            <a:r>
              <a:rPr lang="en-US" sz="1200" b="0" i="1" dirty="0"/>
              <a:t> </a:t>
            </a:r>
            <a:r>
              <a:rPr lang="zh-TW" altLang="en-US" sz="1200" b="0" i="1" dirty="0"/>
              <a:t>會用 </a:t>
            </a:r>
            <a:r>
              <a:rPr lang="en-US" sz="1200" b="0" i="1" dirty="0"/>
              <a:t>Prometheus trigger </a:t>
            </a:r>
            <a:r>
              <a:rPr lang="zh-TW" altLang="en-US" sz="1200" b="0" i="1" dirty="0"/>
              <a:t>去 </a:t>
            </a:r>
            <a:r>
              <a:rPr lang="en-US" sz="1200" b="0" i="1" dirty="0"/>
              <a:t>query req/s per web pod。</a:t>
            </a:r>
          </a:p>
          <a:p>
            <a:endParaRPr lang="en-US" sz="1200" b="0" i="1" dirty="0"/>
          </a:p>
          <a:p>
            <a:r>
              <a:rPr lang="zh-TW" altLang="en-US" sz="1200" b="0" i="1" dirty="0"/>
              <a:t>當每個 </a:t>
            </a:r>
            <a:r>
              <a:rPr lang="en-US" sz="1200" b="0" i="1" dirty="0"/>
              <a:t>web pod </a:t>
            </a:r>
            <a:r>
              <a:rPr lang="zh-TW" altLang="en-US" sz="1200" b="0" i="1" dirty="0"/>
              <a:t>的 </a:t>
            </a:r>
            <a:r>
              <a:rPr lang="en-US" sz="1200" b="0" i="1" dirty="0"/>
              <a:t>request rate </a:t>
            </a:r>
            <a:r>
              <a:rPr lang="zh-TW" altLang="en-US" sz="1200" b="0" i="1" dirty="0"/>
              <a:t>超過門檻，</a:t>
            </a:r>
            <a:r>
              <a:rPr lang="en-US" sz="1200" b="0" i="1" dirty="0"/>
              <a:t>KEDA </a:t>
            </a:r>
            <a:r>
              <a:rPr lang="zh-TW" altLang="en-US" sz="1200" b="0" i="1" dirty="0"/>
              <a:t>會把這個訊號轉給 </a:t>
            </a:r>
            <a:r>
              <a:rPr lang="en-US" sz="1200" b="0" i="1" dirty="0"/>
              <a:t>HPA，HPA </a:t>
            </a:r>
            <a:r>
              <a:rPr lang="zh-TW" altLang="en-US" sz="1200" b="0" i="1" dirty="0"/>
              <a:t>再把 </a:t>
            </a:r>
            <a:r>
              <a:rPr lang="en-US" sz="1200" b="0" i="1" dirty="0"/>
              <a:t>web deployment </a:t>
            </a:r>
            <a:r>
              <a:rPr lang="zh-TW" altLang="en-US" sz="1200" b="0" i="1" dirty="0"/>
              <a:t>從 </a:t>
            </a:r>
            <a:r>
              <a:rPr lang="en-US" altLang="zh-TW" sz="1200" b="0" i="1" dirty="0"/>
              <a:t>2 </a:t>
            </a:r>
            <a:r>
              <a:rPr lang="zh-TW" altLang="en-US" sz="1200" b="0" i="1" dirty="0"/>
              <a:t>個 </a:t>
            </a:r>
            <a:r>
              <a:rPr lang="en-US" sz="1200" b="0" i="1" dirty="0"/>
              <a:t>pods </a:t>
            </a:r>
            <a:r>
              <a:rPr lang="zh-TW" altLang="en-US" sz="1200" b="0" i="1" dirty="0"/>
              <a:t>往上擴。流量降下來之後，也可以 </a:t>
            </a:r>
            <a:r>
              <a:rPr lang="en-US" sz="1200" b="0" i="1" dirty="0"/>
              <a:t>scale in。</a:t>
            </a:r>
            <a:r>
              <a:rPr lang="zh-TW" altLang="en-US" sz="1200" b="0" i="1" dirty="0"/>
              <a:t>這裡的好處是，</a:t>
            </a:r>
            <a:r>
              <a:rPr lang="en-US" sz="1200" b="0" i="1" dirty="0"/>
              <a:t>autoscaling </a:t>
            </a:r>
            <a:r>
              <a:rPr lang="zh-TW" altLang="en-US" sz="1200" b="0" i="1" dirty="0"/>
              <a:t>的依據不是主觀估計 </a:t>
            </a:r>
            <a:r>
              <a:rPr lang="en-US" sz="1200" b="0" i="1" dirty="0"/>
              <a:t>CPU，</a:t>
            </a:r>
            <a:r>
              <a:rPr lang="zh-TW" altLang="en-US" sz="1200" b="0" i="1" dirty="0"/>
              <a:t>而是直接看入口流量對每個 </a:t>
            </a:r>
            <a:r>
              <a:rPr lang="en-US" sz="1200" b="0" i="1" dirty="0"/>
              <a:t>web pod </a:t>
            </a:r>
            <a:r>
              <a:rPr lang="zh-TW" altLang="en-US" sz="1200" b="0" i="1" dirty="0"/>
              <a:t>的壓力。</a:t>
            </a:r>
          </a:p>
          <a:p>
            <a:endParaRPr lang="zh-TW" altLang="en-US" sz="1200" b="0" i="1" dirty="0"/>
          </a:p>
          <a:p>
            <a:r>
              <a:rPr lang="zh-TW" altLang="en-US" sz="1200" b="0" i="1" dirty="0"/>
              <a:t>下面的 </a:t>
            </a:r>
            <a:r>
              <a:rPr lang="en-US" sz="1200" b="0" i="1" dirty="0"/>
              <a:t>Grafana </a:t>
            </a:r>
            <a:r>
              <a:rPr lang="zh-TW" altLang="en-US" sz="1200" b="0" i="1" dirty="0"/>
              <a:t>也是讀 </a:t>
            </a:r>
            <a:r>
              <a:rPr lang="en-US" sz="1200" b="0" i="1" dirty="0"/>
              <a:t>Prometheus，</a:t>
            </a:r>
            <a:r>
              <a:rPr lang="zh-TW" altLang="en-US" sz="1200" b="0" i="1" dirty="0"/>
              <a:t>所以 </a:t>
            </a:r>
            <a:r>
              <a:rPr lang="en-US" sz="1200" b="0" i="1" dirty="0"/>
              <a:t>demo </a:t>
            </a:r>
            <a:r>
              <a:rPr lang="zh-TW" altLang="en-US" sz="1200" b="0" i="1" dirty="0"/>
              <a:t>時可以把三件事串起來看：第一，</a:t>
            </a:r>
            <a:r>
              <a:rPr lang="en-US" sz="1200" b="0" i="1" dirty="0"/>
              <a:t>request rate </a:t>
            </a:r>
            <a:r>
              <a:rPr lang="zh-TW" altLang="en-US" sz="1200" b="0" i="1" dirty="0"/>
              <a:t>有沒有上升；第二，</a:t>
            </a:r>
            <a:r>
              <a:rPr lang="en-US" sz="1200" b="0" i="1" dirty="0"/>
              <a:t>HPA </a:t>
            </a:r>
            <a:r>
              <a:rPr lang="zh-TW" altLang="en-US" sz="1200" b="0" i="1" dirty="0"/>
              <a:t>有沒有真的 </a:t>
            </a:r>
            <a:r>
              <a:rPr lang="en-US" sz="1200" b="0" i="1" dirty="0"/>
              <a:t>scale out；</a:t>
            </a:r>
            <a:r>
              <a:rPr lang="zh-TW" altLang="en-US" sz="1200" b="0" i="1" dirty="0"/>
              <a:t>第三，新的 </a:t>
            </a:r>
            <a:r>
              <a:rPr lang="en-US" sz="1200" b="0" i="1" dirty="0"/>
              <a:t>web pods </a:t>
            </a:r>
            <a:r>
              <a:rPr lang="zh-TW" altLang="en-US" sz="1200" b="0" i="1" dirty="0"/>
              <a:t>起來之後，流量是不是被分散。這樣監控和 </a:t>
            </a:r>
            <a:r>
              <a:rPr lang="en-US" sz="1200" b="0" i="1" dirty="0"/>
              <a:t>autoscaling </a:t>
            </a:r>
            <a:r>
              <a:rPr lang="zh-TW" altLang="en-US" sz="1200" b="0" i="1" dirty="0"/>
              <a:t>就不是兩套各講各的東西，而是共用同一個 </a:t>
            </a:r>
            <a:r>
              <a:rPr lang="en-US" sz="1200" b="0" i="1" dirty="0"/>
              <a:t>Prometheus signal。</a:t>
            </a:r>
            <a:endParaRPr sz="1200" b="0" i="1" dirty="0"/>
          </a:p>
        </p:txBody>
      </p:sp>
      <p:sp>
        <p:nvSpPr>
          <p:cNvPr id="4" name="Slide Number Placeholder 3">
            <a:extLst>
              <a:ext uri="{FF2B5EF4-FFF2-40B4-BE49-F238E27FC236}">
                <a16:creationId xmlns:a16="http://schemas.microsoft.com/office/drawing/2014/main" id="{C59A6102-5586-6FC8-C3BC-E8FED048F23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6950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sz="1200" b="0" i="1" dirty="0"/>
              <a:t>接下來這頁是 </a:t>
            </a:r>
            <a:r>
              <a:rPr lang="en-US" sz="1200" b="0" i="1" dirty="0"/>
              <a:t>Monitoring and Autoscaling。</a:t>
            </a:r>
            <a:r>
              <a:rPr lang="zh-TW" altLang="en-US" sz="1200" b="0" i="1" dirty="0"/>
              <a:t>這裡我想特別講清楚，因為很容易把它想成 </a:t>
            </a:r>
            <a:r>
              <a:rPr lang="en-US" sz="1200" b="0" i="1" dirty="0"/>
              <a:t>worker </a:t>
            </a:r>
            <a:r>
              <a:rPr lang="zh-TW" altLang="en-US" sz="1200" b="0" i="1" dirty="0"/>
              <a:t>根據 </a:t>
            </a:r>
            <a:r>
              <a:rPr lang="en-US" sz="1200" b="0" i="1" dirty="0"/>
              <a:t>Kafka lag </a:t>
            </a:r>
            <a:r>
              <a:rPr lang="en-US" sz="1200" b="0" i="1" dirty="0" err="1"/>
              <a:t>autoscale</a:t>
            </a:r>
            <a:r>
              <a:rPr lang="en-US" sz="1200" b="0" i="1" dirty="0"/>
              <a:t>；</a:t>
            </a:r>
            <a:r>
              <a:rPr lang="zh-TW" altLang="en-US" sz="1200" b="0" i="1" dirty="0"/>
              <a:t>但目前 </a:t>
            </a:r>
            <a:r>
              <a:rPr lang="en-US" sz="1200" b="0" i="1" dirty="0"/>
              <a:t>repo </a:t>
            </a:r>
            <a:r>
              <a:rPr lang="zh-TW" altLang="en-US" sz="1200" b="0" i="1" dirty="0"/>
              <a:t>裡實作的 </a:t>
            </a:r>
            <a:r>
              <a:rPr lang="en-US" sz="1200" b="0" i="1" dirty="0"/>
              <a:t>active demo scenario，</a:t>
            </a:r>
            <a:r>
              <a:rPr lang="zh-TW" altLang="en-US" sz="1200" b="0" i="1" dirty="0"/>
              <a:t>是 </a:t>
            </a:r>
            <a:r>
              <a:rPr lang="en-US" sz="1200" b="0" i="1" dirty="0"/>
              <a:t>web pods </a:t>
            </a:r>
            <a:r>
              <a:rPr lang="zh-TW" altLang="en-US" sz="1200" b="0" i="1" dirty="0"/>
              <a:t>根據 </a:t>
            </a:r>
            <a:r>
              <a:rPr lang="en-US" sz="1200" b="0" i="1" dirty="0"/>
              <a:t>request rate </a:t>
            </a:r>
            <a:r>
              <a:rPr lang="zh-TW" altLang="en-US" sz="1200" b="0" i="1" dirty="0"/>
              <a:t>來 </a:t>
            </a:r>
            <a:r>
              <a:rPr lang="en-US" sz="1200" b="0" i="1" dirty="0"/>
              <a:t>scale in </a:t>
            </a:r>
            <a:r>
              <a:rPr lang="zh-TW" altLang="en-US" sz="1200" b="0" i="1" dirty="0"/>
              <a:t>和 </a:t>
            </a:r>
            <a:r>
              <a:rPr lang="en-US" sz="1200" b="0" i="1" dirty="0"/>
              <a:t>scale out。</a:t>
            </a:r>
          </a:p>
          <a:p>
            <a:endParaRPr lang="en-US" sz="1200" b="0" i="1" dirty="0"/>
          </a:p>
          <a:p>
            <a:r>
              <a:rPr lang="zh-TW" altLang="en-US" sz="1200" b="0" i="1" dirty="0"/>
              <a:t>先看左邊。</a:t>
            </a:r>
            <a:r>
              <a:rPr lang="en-US" sz="1200" b="0" i="1" dirty="0"/>
              <a:t>Web pods </a:t>
            </a:r>
            <a:r>
              <a:rPr lang="zh-TW" altLang="en-US" sz="1200" b="0" i="1" dirty="0"/>
              <a:t>裡面有 </a:t>
            </a:r>
            <a:r>
              <a:rPr lang="en-US" sz="1200" b="0" i="1" dirty="0"/>
              <a:t>NGINX exporter，</a:t>
            </a:r>
            <a:r>
              <a:rPr lang="zh-TW" altLang="en-US" sz="1200" b="0" i="1" dirty="0"/>
              <a:t>會在 </a:t>
            </a:r>
            <a:r>
              <a:rPr lang="en-US" altLang="zh-TW" sz="1200" b="0" i="1" dirty="0"/>
              <a:t>9113 </a:t>
            </a:r>
            <a:r>
              <a:rPr lang="en-US" sz="1200" b="0" i="1" dirty="0"/>
              <a:t>port </a:t>
            </a:r>
            <a:r>
              <a:rPr lang="zh-TW" altLang="en-US" sz="1200" b="0" i="1" dirty="0"/>
              <a:t>暴露 </a:t>
            </a:r>
            <a:r>
              <a:rPr lang="en-US" sz="1200" b="0" i="1" dirty="0" err="1"/>
              <a:t>nginx_http_requests_total。API</a:t>
            </a:r>
            <a:r>
              <a:rPr lang="en-US" sz="1200" b="0" i="1" dirty="0"/>
              <a:t> pods </a:t>
            </a:r>
            <a:r>
              <a:rPr lang="zh-TW" altLang="en-US" sz="1200" b="0" i="1" dirty="0"/>
              <a:t>也有 </a:t>
            </a:r>
            <a:r>
              <a:rPr lang="en-US" altLang="zh-TW" sz="1200" b="0" i="1" dirty="0"/>
              <a:t>/</a:t>
            </a:r>
            <a:r>
              <a:rPr lang="en-US" sz="1200" b="0" i="1" dirty="0"/>
              <a:t>metrics，</a:t>
            </a:r>
            <a:r>
              <a:rPr lang="zh-TW" altLang="en-US" sz="1200" b="0" i="1" dirty="0"/>
              <a:t>所以 </a:t>
            </a:r>
            <a:r>
              <a:rPr lang="en-US" sz="1200" b="0" i="1" dirty="0"/>
              <a:t>Prometheus </a:t>
            </a:r>
            <a:r>
              <a:rPr lang="zh-TW" altLang="en-US" sz="1200" b="0" i="1" dirty="0"/>
              <a:t>會同時 </a:t>
            </a:r>
            <a:r>
              <a:rPr lang="en-US" sz="1200" b="0" i="1" dirty="0"/>
              <a:t>scrape API metrics </a:t>
            </a:r>
            <a:r>
              <a:rPr lang="zh-TW" altLang="en-US" sz="1200" b="0" i="1" dirty="0"/>
              <a:t>和 </a:t>
            </a:r>
            <a:r>
              <a:rPr lang="en-US" sz="1200" b="0" i="1" dirty="0"/>
              <a:t>web-nginx metrics。</a:t>
            </a:r>
            <a:r>
              <a:rPr lang="zh-TW" altLang="en-US" sz="1200" b="0" i="1" dirty="0"/>
              <a:t>這些 </a:t>
            </a:r>
            <a:r>
              <a:rPr lang="en-US" sz="1200" b="0" i="1" dirty="0"/>
              <a:t>metrics </a:t>
            </a:r>
            <a:r>
              <a:rPr lang="zh-TW" altLang="en-US" sz="1200" b="0" i="1" dirty="0"/>
              <a:t>進到 </a:t>
            </a:r>
            <a:r>
              <a:rPr lang="en-US" sz="1200" b="0" i="1" dirty="0"/>
              <a:t>Prometheus </a:t>
            </a:r>
            <a:r>
              <a:rPr lang="zh-TW" altLang="en-US" sz="1200" b="0" i="1" dirty="0"/>
              <a:t>後，右邊的 </a:t>
            </a:r>
            <a:r>
              <a:rPr lang="en-US" sz="1200" b="0" i="1" dirty="0"/>
              <a:t>KEDA </a:t>
            </a:r>
            <a:r>
              <a:rPr lang="en-US" sz="1200" b="0" i="1" dirty="0" err="1"/>
              <a:t>ScaledObject</a:t>
            </a:r>
            <a:r>
              <a:rPr lang="en-US" sz="1200" b="0" i="1" dirty="0"/>
              <a:t> </a:t>
            </a:r>
            <a:r>
              <a:rPr lang="zh-TW" altLang="en-US" sz="1200" b="0" i="1" dirty="0"/>
              <a:t>會用 </a:t>
            </a:r>
            <a:r>
              <a:rPr lang="en-US" sz="1200" b="0" i="1" dirty="0"/>
              <a:t>Prometheus trigger </a:t>
            </a:r>
            <a:r>
              <a:rPr lang="zh-TW" altLang="en-US" sz="1200" b="0" i="1" dirty="0"/>
              <a:t>去 </a:t>
            </a:r>
            <a:r>
              <a:rPr lang="en-US" sz="1200" b="0" i="1" dirty="0"/>
              <a:t>query req/s per web pod。</a:t>
            </a:r>
          </a:p>
          <a:p>
            <a:endParaRPr lang="en-US" sz="1200" b="0" i="1" dirty="0"/>
          </a:p>
          <a:p>
            <a:r>
              <a:rPr lang="zh-TW" altLang="en-US" sz="1200" b="0" i="1" dirty="0"/>
              <a:t>當每個 </a:t>
            </a:r>
            <a:r>
              <a:rPr lang="en-US" sz="1200" b="0" i="1" dirty="0"/>
              <a:t>web pod </a:t>
            </a:r>
            <a:r>
              <a:rPr lang="zh-TW" altLang="en-US" sz="1200" b="0" i="1" dirty="0"/>
              <a:t>的 </a:t>
            </a:r>
            <a:r>
              <a:rPr lang="en-US" sz="1200" b="0" i="1" dirty="0"/>
              <a:t>request rate </a:t>
            </a:r>
            <a:r>
              <a:rPr lang="zh-TW" altLang="en-US" sz="1200" b="0" i="1" dirty="0"/>
              <a:t>超過門檻，</a:t>
            </a:r>
            <a:r>
              <a:rPr lang="en-US" sz="1200" b="0" i="1" dirty="0"/>
              <a:t>KEDA </a:t>
            </a:r>
            <a:r>
              <a:rPr lang="zh-TW" altLang="en-US" sz="1200" b="0" i="1" dirty="0"/>
              <a:t>會把這個訊號轉給 </a:t>
            </a:r>
            <a:r>
              <a:rPr lang="en-US" sz="1200" b="0" i="1" dirty="0"/>
              <a:t>HPA，HPA </a:t>
            </a:r>
            <a:r>
              <a:rPr lang="zh-TW" altLang="en-US" sz="1200" b="0" i="1" dirty="0"/>
              <a:t>再把 </a:t>
            </a:r>
            <a:r>
              <a:rPr lang="en-US" sz="1200" b="0" i="1" dirty="0"/>
              <a:t>web deployment </a:t>
            </a:r>
            <a:r>
              <a:rPr lang="zh-TW" altLang="en-US" sz="1200" b="0" i="1" dirty="0"/>
              <a:t>從 </a:t>
            </a:r>
            <a:r>
              <a:rPr lang="en-US" altLang="zh-TW" sz="1200" b="0" i="1" dirty="0"/>
              <a:t>2 </a:t>
            </a:r>
            <a:r>
              <a:rPr lang="zh-TW" altLang="en-US" sz="1200" b="0" i="1" dirty="0"/>
              <a:t>個 </a:t>
            </a:r>
            <a:r>
              <a:rPr lang="en-US" sz="1200" b="0" i="1" dirty="0"/>
              <a:t>pods </a:t>
            </a:r>
            <a:r>
              <a:rPr lang="zh-TW" altLang="en-US" sz="1200" b="0" i="1" dirty="0"/>
              <a:t>往上擴。流量降下來之後，也可以 </a:t>
            </a:r>
            <a:r>
              <a:rPr lang="en-US" sz="1200" b="0" i="1" dirty="0"/>
              <a:t>scale in。</a:t>
            </a:r>
            <a:r>
              <a:rPr lang="zh-TW" altLang="en-US" sz="1200" b="0" i="1" dirty="0"/>
              <a:t>這裡的好處是，</a:t>
            </a:r>
            <a:r>
              <a:rPr lang="en-US" sz="1200" b="0" i="1" dirty="0"/>
              <a:t>autoscaling </a:t>
            </a:r>
            <a:r>
              <a:rPr lang="zh-TW" altLang="en-US" sz="1200" b="0" i="1" dirty="0"/>
              <a:t>的依據不是主觀估計 </a:t>
            </a:r>
            <a:r>
              <a:rPr lang="en-US" sz="1200" b="0" i="1" dirty="0"/>
              <a:t>CPU，</a:t>
            </a:r>
            <a:r>
              <a:rPr lang="zh-TW" altLang="en-US" sz="1200" b="0" i="1" dirty="0"/>
              <a:t>而是直接看入口流量對每個 </a:t>
            </a:r>
            <a:r>
              <a:rPr lang="en-US" sz="1200" b="0" i="1" dirty="0"/>
              <a:t>web pod </a:t>
            </a:r>
            <a:r>
              <a:rPr lang="zh-TW" altLang="en-US" sz="1200" b="0" i="1" dirty="0"/>
              <a:t>的壓力。</a:t>
            </a:r>
          </a:p>
          <a:p>
            <a:endParaRPr lang="zh-TW" altLang="en-US" sz="1200" b="0" i="1" dirty="0"/>
          </a:p>
          <a:p>
            <a:r>
              <a:rPr lang="zh-TW" altLang="en-US" sz="1200" b="0" i="1" dirty="0"/>
              <a:t>下面的 </a:t>
            </a:r>
            <a:r>
              <a:rPr lang="en-US" sz="1200" b="0" i="1" dirty="0"/>
              <a:t>Grafana </a:t>
            </a:r>
            <a:r>
              <a:rPr lang="zh-TW" altLang="en-US" sz="1200" b="0" i="1" dirty="0"/>
              <a:t>也是讀 </a:t>
            </a:r>
            <a:r>
              <a:rPr lang="en-US" sz="1200" b="0" i="1" dirty="0"/>
              <a:t>Prometheus，</a:t>
            </a:r>
            <a:r>
              <a:rPr lang="zh-TW" altLang="en-US" sz="1200" b="0" i="1" dirty="0"/>
              <a:t>所以 </a:t>
            </a:r>
            <a:r>
              <a:rPr lang="en-US" sz="1200" b="0" i="1" dirty="0"/>
              <a:t>demo </a:t>
            </a:r>
            <a:r>
              <a:rPr lang="zh-TW" altLang="en-US" sz="1200" b="0" i="1" dirty="0"/>
              <a:t>時可以把三件事串起來看：第一，</a:t>
            </a:r>
            <a:r>
              <a:rPr lang="en-US" sz="1200" b="0" i="1" dirty="0"/>
              <a:t>request rate </a:t>
            </a:r>
            <a:r>
              <a:rPr lang="zh-TW" altLang="en-US" sz="1200" b="0" i="1" dirty="0"/>
              <a:t>有沒有上升；第二，</a:t>
            </a:r>
            <a:r>
              <a:rPr lang="en-US" sz="1200" b="0" i="1" dirty="0"/>
              <a:t>HPA </a:t>
            </a:r>
            <a:r>
              <a:rPr lang="zh-TW" altLang="en-US" sz="1200" b="0" i="1" dirty="0"/>
              <a:t>有沒有真的 </a:t>
            </a:r>
            <a:r>
              <a:rPr lang="en-US" sz="1200" b="0" i="1" dirty="0"/>
              <a:t>scale out；</a:t>
            </a:r>
            <a:r>
              <a:rPr lang="zh-TW" altLang="en-US" sz="1200" b="0" i="1" dirty="0"/>
              <a:t>第三，新的 </a:t>
            </a:r>
            <a:r>
              <a:rPr lang="en-US" sz="1200" b="0" i="1" dirty="0"/>
              <a:t>web pods </a:t>
            </a:r>
            <a:r>
              <a:rPr lang="zh-TW" altLang="en-US" sz="1200" b="0" i="1" dirty="0"/>
              <a:t>起來之後，流量是不是被分散。這樣監控和 </a:t>
            </a:r>
            <a:r>
              <a:rPr lang="en-US" sz="1200" b="0" i="1" dirty="0"/>
              <a:t>autoscaling </a:t>
            </a:r>
            <a:r>
              <a:rPr lang="zh-TW" altLang="en-US" sz="1200" b="0" i="1" dirty="0"/>
              <a:t>就不是兩套各講各的東西，而是共用同一個 </a:t>
            </a:r>
            <a:r>
              <a:rPr lang="en-US" sz="1200" b="0" i="1" dirty="0"/>
              <a:t>Prometheus signal。</a:t>
            </a:r>
            <a:endParaRPr sz="1200" b="0" i="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AD7B-5AC5-1633-7485-357C729F2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B032C-093C-572A-BB29-32E532162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B7481-CFA8-2638-2B40-ED4BD072A193}"/>
              </a:ext>
            </a:extLst>
          </p:cNvPr>
          <p:cNvSpPr>
            <a:spLocks noGrp="1"/>
          </p:cNvSpPr>
          <p:nvPr>
            <p:ph type="body" idx="1"/>
          </p:nvPr>
        </p:nvSpPr>
        <p:spPr/>
        <p:txBody>
          <a:bodyPr/>
          <a:lstStyle/>
          <a:p>
            <a:r>
              <a:rPr lang="zh-TW" altLang="en-US" sz="1200" b="0" i="1" dirty="0"/>
              <a:t>接下來這頁是 </a:t>
            </a:r>
            <a:r>
              <a:rPr lang="en-US" sz="1200" b="0" i="1" dirty="0"/>
              <a:t>Monitoring and Autoscaling。</a:t>
            </a:r>
            <a:r>
              <a:rPr lang="zh-TW" altLang="en-US" sz="1200" b="0" i="1" dirty="0"/>
              <a:t>這裡我想特別講清楚，因為很容易把它想成 </a:t>
            </a:r>
            <a:r>
              <a:rPr lang="en-US" sz="1200" b="0" i="1" dirty="0"/>
              <a:t>worker </a:t>
            </a:r>
            <a:r>
              <a:rPr lang="zh-TW" altLang="en-US" sz="1200" b="0" i="1" dirty="0"/>
              <a:t>根據 </a:t>
            </a:r>
            <a:r>
              <a:rPr lang="en-US" sz="1200" b="0" i="1" dirty="0"/>
              <a:t>Kafka lag </a:t>
            </a:r>
            <a:r>
              <a:rPr lang="en-US" sz="1200" b="0" i="1" dirty="0" err="1"/>
              <a:t>autoscale</a:t>
            </a:r>
            <a:r>
              <a:rPr lang="en-US" sz="1200" b="0" i="1" dirty="0"/>
              <a:t>；</a:t>
            </a:r>
            <a:r>
              <a:rPr lang="zh-TW" altLang="en-US" sz="1200" b="0" i="1" dirty="0"/>
              <a:t>但目前 </a:t>
            </a:r>
            <a:r>
              <a:rPr lang="en-US" sz="1200" b="0" i="1" dirty="0"/>
              <a:t>repo </a:t>
            </a:r>
            <a:r>
              <a:rPr lang="zh-TW" altLang="en-US" sz="1200" b="0" i="1" dirty="0"/>
              <a:t>裡實作的 </a:t>
            </a:r>
            <a:r>
              <a:rPr lang="en-US" sz="1200" b="0" i="1" dirty="0"/>
              <a:t>active demo scenario，</a:t>
            </a:r>
            <a:r>
              <a:rPr lang="zh-TW" altLang="en-US" sz="1200" b="0" i="1" dirty="0"/>
              <a:t>是 </a:t>
            </a:r>
            <a:r>
              <a:rPr lang="en-US" sz="1200" b="0" i="1" dirty="0"/>
              <a:t>web pods </a:t>
            </a:r>
            <a:r>
              <a:rPr lang="zh-TW" altLang="en-US" sz="1200" b="0" i="1" dirty="0"/>
              <a:t>根據 </a:t>
            </a:r>
            <a:r>
              <a:rPr lang="en-US" sz="1200" b="0" i="1" dirty="0"/>
              <a:t>request rate </a:t>
            </a:r>
            <a:r>
              <a:rPr lang="zh-TW" altLang="en-US" sz="1200" b="0" i="1" dirty="0"/>
              <a:t>來 </a:t>
            </a:r>
            <a:r>
              <a:rPr lang="en-US" sz="1200" b="0" i="1" dirty="0"/>
              <a:t>scale in </a:t>
            </a:r>
            <a:r>
              <a:rPr lang="zh-TW" altLang="en-US" sz="1200" b="0" i="1" dirty="0"/>
              <a:t>和 </a:t>
            </a:r>
            <a:r>
              <a:rPr lang="en-US" sz="1200" b="0" i="1" dirty="0"/>
              <a:t>scale out。</a:t>
            </a:r>
          </a:p>
          <a:p>
            <a:endParaRPr lang="en-US" sz="1200" b="0" i="1" dirty="0"/>
          </a:p>
          <a:p>
            <a:r>
              <a:rPr lang="zh-TW" altLang="en-US" sz="1200" b="0" i="1" dirty="0"/>
              <a:t>先看左邊。</a:t>
            </a:r>
            <a:r>
              <a:rPr lang="en-US" sz="1200" b="0" i="1" dirty="0"/>
              <a:t>Web pods </a:t>
            </a:r>
            <a:r>
              <a:rPr lang="zh-TW" altLang="en-US" sz="1200" b="0" i="1" dirty="0"/>
              <a:t>裡面有 </a:t>
            </a:r>
            <a:r>
              <a:rPr lang="en-US" sz="1200" b="0" i="1" dirty="0"/>
              <a:t>NGINX exporter，</a:t>
            </a:r>
            <a:r>
              <a:rPr lang="zh-TW" altLang="en-US" sz="1200" b="0" i="1" dirty="0"/>
              <a:t>會在 </a:t>
            </a:r>
            <a:r>
              <a:rPr lang="en-US" altLang="zh-TW" sz="1200" b="0" i="1" dirty="0"/>
              <a:t>9113 </a:t>
            </a:r>
            <a:r>
              <a:rPr lang="en-US" sz="1200" b="0" i="1" dirty="0"/>
              <a:t>port </a:t>
            </a:r>
            <a:r>
              <a:rPr lang="zh-TW" altLang="en-US" sz="1200" b="0" i="1" dirty="0"/>
              <a:t>暴露 </a:t>
            </a:r>
            <a:r>
              <a:rPr lang="en-US" sz="1200" b="0" i="1" dirty="0" err="1"/>
              <a:t>nginx_http_requests_total。API</a:t>
            </a:r>
            <a:r>
              <a:rPr lang="en-US" sz="1200" b="0" i="1" dirty="0"/>
              <a:t> pods </a:t>
            </a:r>
            <a:r>
              <a:rPr lang="zh-TW" altLang="en-US" sz="1200" b="0" i="1" dirty="0"/>
              <a:t>也有 </a:t>
            </a:r>
            <a:r>
              <a:rPr lang="en-US" altLang="zh-TW" sz="1200" b="0" i="1" dirty="0"/>
              <a:t>/</a:t>
            </a:r>
            <a:r>
              <a:rPr lang="en-US" sz="1200" b="0" i="1" dirty="0"/>
              <a:t>metrics，</a:t>
            </a:r>
            <a:r>
              <a:rPr lang="zh-TW" altLang="en-US" sz="1200" b="0" i="1" dirty="0"/>
              <a:t>所以 </a:t>
            </a:r>
            <a:r>
              <a:rPr lang="en-US" sz="1200" b="0" i="1" dirty="0"/>
              <a:t>Prometheus </a:t>
            </a:r>
            <a:r>
              <a:rPr lang="zh-TW" altLang="en-US" sz="1200" b="0" i="1" dirty="0"/>
              <a:t>會同時 </a:t>
            </a:r>
            <a:r>
              <a:rPr lang="en-US" sz="1200" b="0" i="1" dirty="0"/>
              <a:t>scrape API metrics </a:t>
            </a:r>
            <a:r>
              <a:rPr lang="zh-TW" altLang="en-US" sz="1200" b="0" i="1" dirty="0"/>
              <a:t>和 </a:t>
            </a:r>
            <a:r>
              <a:rPr lang="en-US" sz="1200" b="0" i="1" dirty="0"/>
              <a:t>web-nginx metrics。</a:t>
            </a:r>
            <a:r>
              <a:rPr lang="zh-TW" altLang="en-US" sz="1200" b="0" i="1" dirty="0"/>
              <a:t>這些 </a:t>
            </a:r>
            <a:r>
              <a:rPr lang="en-US" sz="1200" b="0" i="1" dirty="0"/>
              <a:t>metrics </a:t>
            </a:r>
            <a:r>
              <a:rPr lang="zh-TW" altLang="en-US" sz="1200" b="0" i="1" dirty="0"/>
              <a:t>進到 </a:t>
            </a:r>
            <a:r>
              <a:rPr lang="en-US" sz="1200" b="0" i="1" dirty="0"/>
              <a:t>Prometheus </a:t>
            </a:r>
            <a:r>
              <a:rPr lang="zh-TW" altLang="en-US" sz="1200" b="0" i="1" dirty="0"/>
              <a:t>後，右邊的 </a:t>
            </a:r>
            <a:r>
              <a:rPr lang="en-US" sz="1200" b="0" i="1" dirty="0"/>
              <a:t>KEDA </a:t>
            </a:r>
            <a:r>
              <a:rPr lang="en-US" sz="1200" b="0" i="1" dirty="0" err="1"/>
              <a:t>ScaledObject</a:t>
            </a:r>
            <a:r>
              <a:rPr lang="en-US" sz="1200" b="0" i="1" dirty="0"/>
              <a:t> </a:t>
            </a:r>
            <a:r>
              <a:rPr lang="zh-TW" altLang="en-US" sz="1200" b="0" i="1" dirty="0"/>
              <a:t>會用 </a:t>
            </a:r>
            <a:r>
              <a:rPr lang="en-US" sz="1200" b="0" i="1" dirty="0"/>
              <a:t>Prometheus trigger </a:t>
            </a:r>
            <a:r>
              <a:rPr lang="zh-TW" altLang="en-US" sz="1200" b="0" i="1" dirty="0"/>
              <a:t>去 </a:t>
            </a:r>
            <a:r>
              <a:rPr lang="en-US" sz="1200" b="0" i="1" dirty="0"/>
              <a:t>query req/s per web pod。</a:t>
            </a:r>
          </a:p>
          <a:p>
            <a:endParaRPr lang="en-US" sz="1200" b="0" i="1" dirty="0"/>
          </a:p>
          <a:p>
            <a:r>
              <a:rPr lang="zh-TW" altLang="en-US" sz="1200" b="0" i="1" dirty="0"/>
              <a:t>當每個 </a:t>
            </a:r>
            <a:r>
              <a:rPr lang="en-US" sz="1200" b="0" i="1" dirty="0"/>
              <a:t>web pod </a:t>
            </a:r>
            <a:r>
              <a:rPr lang="zh-TW" altLang="en-US" sz="1200" b="0" i="1" dirty="0"/>
              <a:t>的 </a:t>
            </a:r>
            <a:r>
              <a:rPr lang="en-US" sz="1200" b="0" i="1" dirty="0"/>
              <a:t>request rate </a:t>
            </a:r>
            <a:r>
              <a:rPr lang="zh-TW" altLang="en-US" sz="1200" b="0" i="1" dirty="0"/>
              <a:t>超過門檻，</a:t>
            </a:r>
            <a:r>
              <a:rPr lang="en-US" sz="1200" b="0" i="1" dirty="0"/>
              <a:t>KEDA </a:t>
            </a:r>
            <a:r>
              <a:rPr lang="zh-TW" altLang="en-US" sz="1200" b="0" i="1" dirty="0"/>
              <a:t>會把這個訊號轉給 </a:t>
            </a:r>
            <a:r>
              <a:rPr lang="en-US" sz="1200" b="0" i="1" dirty="0"/>
              <a:t>HPA，HPA </a:t>
            </a:r>
            <a:r>
              <a:rPr lang="zh-TW" altLang="en-US" sz="1200" b="0" i="1" dirty="0"/>
              <a:t>再把 </a:t>
            </a:r>
            <a:r>
              <a:rPr lang="en-US" sz="1200" b="0" i="1" dirty="0"/>
              <a:t>web deployment </a:t>
            </a:r>
            <a:r>
              <a:rPr lang="zh-TW" altLang="en-US" sz="1200" b="0" i="1" dirty="0"/>
              <a:t>從 </a:t>
            </a:r>
            <a:r>
              <a:rPr lang="en-US" altLang="zh-TW" sz="1200" b="0" i="1" dirty="0"/>
              <a:t>2 </a:t>
            </a:r>
            <a:r>
              <a:rPr lang="zh-TW" altLang="en-US" sz="1200" b="0" i="1" dirty="0"/>
              <a:t>個 </a:t>
            </a:r>
            <a:r>
              <a:rPr lang="en-US" sz="1200" b="0" i="1" dirty="0"/>
              <a:t>pods </a:t>
            </a:r>
            <a:r>
              <a:rPr lang="zh-TW" altLang="en-US" sz="1200" b="0" i="1" dirty="0"/>
              <a:t>往上擴。流量降下來之後，也可以 </a:t>
            </a:r>
            <a:r>
              <a:rPr lang="en-US" sz="1200" b="0" i="1" dirty="0"/>
              <a:t>scale in。</a:t>
            </a:r>
            <a:r>
              <a:rPr lang="zh-TW" altLang="en-US" sz="1200" b="0" i="1" dirty="0"/>
              <a:t>這裡的好處是，</a:t>
            </a:r>
            <a:r>
              <a:rPr lang="en-US" sz="1200" b="0" i="1" dirty="0"/>
              <a:t>autoscaling </a:t>
            </a:r>
            <a:r>
              <a:rPr lang="zh-TW" altLang="en-US" sz="1200" b="0" i="1" dirty="0"/>
              <a:t>的依據不是主觀估計 </a:t>
            </a:r>
            <a:r>
              <a:rPr lang="en-US" sz="1200" b="0" i="1" dirty="0"/>
              <a:t>CPU，</a:t>
            </a:r>
            <a:r>
              <a:rPr lang="zh-TW" altLang="en-US" sz="1200" b="0" i="1" dirty="0"/>
              <a:t>而是直接看入口流量對每個 </a:t>
            </a:r>
            <a:r>
              <a:rPr lang="en-US" sz="1200" b="0" i="1" dirty="0"/>
              <a:t>web pod </a:t>
            </a:r>
            <a:r>
              <a:rPr lang="zh-TW" altLang="en-US" sz="1200" b="0" i="1" dirty="0"/>
              <a:t>的壓力。</a:t>
            </a:r>
          </a:p>
          <a:p>
            <a:endParaRPr lang="zh-TW" altLang="en-US" sz="1200" b="0" i="1" dirty="0"/>
          </a:p>
          <a:p>
            <a:r>
              <a:rPr lang="zh-TW" altLang="en-US" sz="1200" b="0" i="1" dirty="0"/>
              <a:t>下面的 </a:t>
            </a:r>
            <a:r>
              <a:rPr lang="en-US" sz="1200" b="0" i="1" dirty="0"/>
              <a:t>Grafana </a:t>
            </a:r>
            <a:r>
              <a:rPr lang="zh-TW" altLang="en-US" sz="1200" b="0" i="1" dirty="0"/>
              <a:t>也是讀 </a:t>
            </a:r>
            <a:r>
              <a:rPr lang="en-US" sz="1200" b="0" i="1" dirty="0"/>
              <a:t>Prometheus，</a:t>
            </a:r>
            <a:r>
              <a:rPr lang="zh-TW" altLang="en-US" sz="1200" b="0" i="1" dirty="0"/>
              <a:t>所以 </a:t>
            </a:r>
            <a:r>
              <a:rPr lang="en-US" sz="1200" b="0" i="1" dirty="0"/>
              <a:t>demo </a:t>
            </a:r>
            <a:r>
              <a:rPr lang="zh-TW" altLang="en-US" sz="1200" b="0" i="1" dirty="0"/>
              <a:t>時可以把三件事串起來看：第一，</a:t>
            </a:r>
            <a:r>
              <a:rPr lang="en-US" sz="1200" b="0" i="1" dirty="0"/>
              <a:t>request rate </a:t>
            </a:r>
            <a:r>
              <a:rPr lang="zh-TW" altLang="en-US" sz="1200" b="0" i="1" dirty="0"/>
              <a:t>有沒有上升；第二，</a:t>
            </a:r>
            <a:r>
              <a:rPr lang="en-US" sz="1200" b="0" i="1" dirty="0"/>
              <a:t>HPA </a:t>
            </a:r>
            <a:r>
              <a:rPr lang="zh-TW" altLang="en-US" sz="1200" b="0" i="1" dirty="0"/>
              <a:t>有沒有真的 </a:t>
            </a:r>
            <a:r>
              <a:rPr lang="en-US" sz="1200" b="0" i="1" dirty="0"/>
              <a:t>scale out；</a:t>
            </a:r>
            <a:r>
              <a:rPr lang="zh-TW" altLang="en-US" sz="1200" b="0" i="1" dirty="0"/>
              <a:t>第三，新的 </a:t>
            </a:r>
            <a:r>
              <a:rPr lang="en-US" sz="1200" b="0" i="1" dirty="0"/>
              <a:t>web pods </a:t>
            </a:r>
            <a:r>
              <a:rPr lang="zh-TW" altLang="en-US" sz="1200" b="0" i="1" dirty="0"/>
              <a:t>起來之後，流量是不是被分散。這樣監控和 </a:t>
            </a:r>
            <a:r>
              <a:rPr lang="en-US" sz="1200" b="0" i="1" dirty="0"/>
              <a:t>autoscaling </a:t>
            </a:r>
            <a:r>
              <a:rPr lang="zh-TW" altLang="en-US" sz="1200" b="0" i="1" dirty="0"/>
              <a:t>就不是兩套各講各的東西，而是共用同一個 </a:t>
            </a:r>
            <a:r>
              <a:rPr lang="en-US" sz="1200" b="0" i="1" dirty="0"/>
              <a:t>Prometheus signal。</a:t>
            </a:r>
            <a:endParaRPr sz="1200" b="0" i="1" dirty="0"/>
          </a:p>
        </p:txBody>
      </p:sp>
      <p:sp>
        <p:nvSpPr>
          <p:cNvPr id="4" name="Slide Number Placeholder 3">
            <a:extLst>
              <a:ext uri="{FF2B5EF4-FFF2-40B4-BE49-F238E27FC236}">
                <a16:creationId xmlns:a16="http://schemas.microsoft.com/office/drawing/2014/main" id="{F859C624-44B8-6D68-0CE1-60E082B34F3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04283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AD7B-5AC5-1633-7485-357C729F2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B032C-093C-572A-BB29-32E532162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B7481-CFA8-2638-2B40-ED4BD072A193}"/>
              </a:ext>
            </a:extLst>
          </p:cNvPr>
          <p:cNvSpPr>
            <a:spLocks noGrp="1"/>
          </p:cNvSpPr>
          <p:nvPr>
            <p:ph type="body" idx="1"/>
          </p:nvPr>
        </p:nvSpPr>
        <p:spPr/>
        <p:txBody>
          <a:bodyPr/>
          <a:lstStyle/>
          <a:p>
            <a:r>
              <a:rPr lang="zh-TW" altLang="en-US" sz="1200" b="0" i="1" dirty="0"/>
              <a:t>接下來這頁是 </a:t>
            </a:r>
            <a:r>
              <a:rPr lang="en-US" sz="1200" b="0" i="1" dirty="0"/>
              <a:t>Monitoring and Autoscaling。</a:t>
            </a:r>
            <a:r>
              <a:rPr lang="zh-TW" altLang="en-US" sz="1200" b="0" i="1" dirty="0"/>
              <a:t>這裡我想特別講清楚，因為很容易把它想成 </a:t>
            </a:r>
            <a:r>
              <a:rPr lang="en-US" sz="1200" b="0" i="1" dirty="0"/>
              <a:t>worker </a:t>
            </a:r>
            <a:r>
              <a:rPr lang="zh-TW" altLang="en-US" sz="1200" b="0" i="1" dirty="0"/>
              <a:t>根據 </a:t>
            </a:r>
            <a:r>
              <a:rPr lang="en-US" sz="1200" b="0" i="1" dirty="0"/>
              <a:t>Kafka lag </a:t>
            </a:r>
            <a:r>
              <a:rPr lang="en-US" sz="1200" b="0" i="1" dirty="0" err="1"/>
              <a:t>autoscale</a:t>
            </a:r>
            <a:r>
              <a:rPr lang="en-US" sz="1200" b="0" i="1" dirty="0"/>
              <a:t>；</a:t>
            </a:r>
            <a:r>
              <a:rPr lang="zh-TW" altLang="en-US" sz="1200" b="0" i="1" dirty="0"/>
              <a:t>但目前 </a:t>
            </a:r>
            <a:r>
              <a:rPr lang="en-US" sz="1200" b="0" i="1" dirty="0"/>
              <a:t>repo </a:t>
            </a:r>
            <a:r>
              <a:rPr lang="zh-TW" altLang="en-US" sz="1200" b="0" i="1" dirty="0"/>
              <a:t>裡實作的 </a:t>
            </a:r>
            <a:r>
              <a:rPr lang="en-US" sz="1200" b="0" i="1" dirty="0"/>
              <a:t>active demo scenario，</a:t>
            </a:r>
            <a:r>
              <a:rPr lang="zh-TW" altLang="en-US" sz="1200" b="0" i="1" dirty="0"/>
              <a:t>是 </a:t>
            </a:r>
            <a:r>
              <a:rPr lang="en-US" sz="1200" b="0" i="1" dirty="0"/>
              <a:t>web pods </a:t>
            </a:r>
            <a:r>
              <a:rPr lang="zh-TW" altLang="en-US" sz="1200" b="0" i="1" dirty="0"/>
              <a:t>根據 </a:t>
            </a:r>
            <a:r>
              <a:rPr lang="en-US" sz="1200" b="0" i="1" dirty="0"/>
              <a:t>request rate </a:t>
            </a:r>
            <a:r>
              <a:rPr lang="zh-TW" altLang="en-US" sz="1200" b="0" i="1" dirty="0"/>
              <a:t>來 </a:t>
            </a:r>
            <a:r>
              <a:rPr lang="en-US" sz="1200" b="0" i="1" dirty="0"/>
              <a:t>scale in </a:t>
            </a:r>
            <a:r>
              <a:rPr lang="zh-TW" altLang="en-US" sz="1200" b="0" i="1" dirty="0"/>
              <a:t>和 </a:t>
            </a:r>
            <a:r>
              <a:rPr lang="en-US" sz="1200" b="0" i="1" dirty="0"/>
              <a:t>scale out。</a:t>
            </a:r>
          </a:p>
          <a:p>
            <a:endParaRPr lang="en-US" sz="1200" b="0" i="1" dirty="0"/>
          </a:p>
          <a:p>
            <a:r>
              <a:rPr lang="zh-TW" altLang="en-US" sz="1200" b="0" i="1" dirty="0"/>
              <a:t>先看左邊。</a:t>
            </a:r>
            <a:r>
              <a:rPr lang="en-US" sz="1200" b="0" i="1" dirty="0"/>
              <a:t>Web pods </a:t>
            </a:r>
            <a:r>
              <a:rPr lang="zh-TW" altLang="en-US" sz="1200" b="0" i="1" dirty="0"/>
              <a:t>裡面有 </a:t>
            </a:r>
            <a:r>
              <a:rPr lang="en-US" sz="1200" b="0" i="1" dirty="0"/>
              <a:t>NGINX exporter，</a:t>
            </a:r>
            <a:r>
              <a:rPr lang="zh-TW" altLang="en-US" sz="1200" b="0" i="1" dirty="0"/>
              <a:t>會在 </a:t>
            </a:r>
            <a:r>
              <a:rPr lang="en-US" altLang="zh-TW" sz="1200" b="0" i="1" dirty="0"/>
              <a:t>9113 </a:t>
            </a:r>
            <a:r>
              <a:rPr lang="en-US" sz="1200" b="0" i="1" dirty="0"/>
              <a:t>port </a:t>
            </a:r>
            <a:r>
              <a:rPr lang="zh-TW" altLang="en-US" sz="1200" b="0" i="1" dirty="0"/>
              <a:t>暴露 </a:t>
            </a:r>
            <a:r>
              <a:rPr lang="en-US" sz="1200" b="0" i="1" dirty="0" err="1"/>
              <a:t>nginx_http_requests_total。API</a:t>
            </a:r>
            <a:r>
              <a:rPr lang="en-US" sz="1200" b="0" i="1" dirty="0"/>
              <a:t> pods </a:t>
            </a:r>
            <a:r>
              <a:rPr lang="zh-TW" altLang="en-US" sz="1200" b="0" i="1" dirty="0"/>
              <a:t>也有 </a:t>
            </a:r>
            <a:r>
              <a:rPr lang="en-US" altLang="zh-TW" sz="1200" b="0" i="1" dirty="0"/>
              <a:t>/</a:t>
            </a:r>
            <a:r>
              <a:rPr lang="en-US" sz="1200" b="0" i="1" dirty="0"/>
              <a:t>metrics，</a:t>
            </a:r>
            <a:r>
              <a:rPr lang="zh-TW" altLang="en-US" sz="1200" b="0" i="1" dirty="0"/>
              <a:t>所以 </a:t>
            </a:r>
            <a:r>
              <a:rPr lang="en-US" sz="1200" b="0" i="1" dirty="0"/>
              <a:t>Prometheus </a:t>
            </a:r>
            <a:r>
              <a:rPr lang="zh-TW" altLang="en-US" sz="1200" b="0" i="1" dirty="0"/>
              <a:t>會同時 </a:t>
            </a:r>
            <a:r>
              <a:rPr lang="en-US" sz="1200" b="0" i="1" dirty="0"/>
              <a:t>scrape API metrics </a:t>
            </a:r>
            <a:r>
              <a:rPr lang="zh-TW" altLang="en-US" sz="1200" b="0" i="1" dirty="0"/>
              <a:t>和 </a:t>
            </a:r>
            <a:r>
              <a:rPr lang="en-US" sz="1200" b="0" i="1" dirty="0"/>
              <a:t>web-nginx metrics。</a:t>
            </a:r>
            <a:r>
              <a:rPr lang="zh-TW" altLang="en-US" sz="1200" b="0" i="1" dirty="0"/>
              <a:t>這些 </a:t>
            </a:r>
            <a:r>
              <a:rPr lang="en-US" sz="1200" b="0" i="1" dirty="0"/>
              <a:t>metrics </a:t>
            </a:r>
            <a:r>
              <a:rPr lang="zh-TW" altLang="en-US" sz="1200" b="0" i="1" dirty="0"/>
              <a:t>進到 </a:t>
            </a:r>
            <a:r>
              <a:rPr lang="en-US" sz="1200" b="0" i="1" dirty="0"/>
              <a:t>Prometheus </a:t>
            </a:r>
            <a:r>
              <a:rPr lang="zh-TW" altLang="en-US" sz="1200" b="0" i="1" dirty="0"/>
              <a:t>後，右邊的 </a:t>
            </a:r>
            <a:r>
              <a:rPr lang="en-US" sz="1200" b="0" i="1" dirty="0"/>
              <a:t>KEDA </a:t>
            </a:r>
            <a:r>
              <a:rPr lang="en-US" sz="1200" b="0" i="1" dirty="0" err="1"/>
              <a:t>ScaledObject</a:t>
            </a:r>
            <a:r>
              <a:rPr lang="en-US" sz="1200" b="0" i="1" dirty="0"/>
              <a:t> </a:t>
            </a:r>
            <a:r>
              <a:rPr lang="zh-TW" altLang="en-US" sz="1200" b="0" i="1" dirty="0"/>
              <a:t>會用 </a:t>
            </a:r>
            <a:r>
              <a:rPr lang="en-US" sz="1200" b="0" i="1" dirty="0"/>
              <a:t>Prometheus trigger </a:t>
            </a:r>
            <a:r>
              <a:rPr lang="zh-TW" altLang="en-US" sz="1200" b="0" i="1" dirty="0"/>
              <a:t>去 </a:t>
            </a:r>
            <a:r>
              <a:rPr lang="en-US" sz="1200" b="0" i="1" dirty="0"/>
              <a:t>query req/s per web pod。</a:t>
            </a:r>
          </a:p>
          <a:p>
            <a:endParaRPr lang="en-US" sz="1200" b="0" i="1" dirty="0"/>
          </a:p>
          <a:p>
            <a:r>
              <a:rPr lang="zh-TW" altLang="en-US" sz="1200" b="0" i="1" dirty="0"/>
              <a:t>當每個 </a:t>
            </a:r>
            <a:r>
              <a:rPr lang="en-US" sz="1200" b="0" i="1" dirty="0"/>
              <a:t>web pod </a:t>
            </a:r>
            <a:r>
              <a:rPr lang="zh-TW" altLang="en-US" sz="1200" b="0" i="1" dirty="0"/>
              <a:t>的 </a:t>
            </a:r>
            <a:r>
              <a:rPr lang="en-US" sz="1200" b="0" i="1" dirty="0"/>
              <a:t>request rate </a:t>
            </a:r>
            <a:r>
              <a:rPr lang="zh-TW" altLang="en-US" sz="1200" b="0" i="1" dirty="0"/>
              <a:t>超過門檻，</a:t>
            </a:r>
            <a:r>
              <a:rPr lang="en-US" sz="1200" b="0" i="1" dirty="0"/>
              <a:t>KEDA </a:t>
            </a:r>
            <a:r>
              <a:rPr lang="zh-TW" altLang="en-US" sz="1200" b="0" i="1" dirty="0"/>
              <a:t>會把這個訊號轉給 </a:t>
            </a:r>
            <a:r>
              <a:rPr lang="en-US" sz="1200" b="0" i="1" dirty="0"/>
              <a:t>HPA，HPA </a:t>
            </a:r>
            <a:r>
              <a:rPr lang="zh-TW" altLang="en-US" sz="1200" b="0" i="1" dirty="0"/>
              <a:t>再把 </a:t>
            </a:r>
            <a:r>
              <a:rPr lang="en-US" sz="1200" b="0" i="1" dirty="0"/>
              <a:t>web deployment </a:t>
            </a:r>
            <a:r>
              <a:rPr lang="zh-TW" altLang="en-US" sz="1200" b="0" i="1" dirty="0"/>
              <a:t>從 </a:t>
            </a:r>
            <a:r>
              <a:rPr lang="en-US" altLang="zh-TW" sz="1200" b="0" i="1" dirty="0"/>
              <a:t>2 </a:t>
            </a:r>
            <a:r>
              <a:rPr lang="zh-TW" altLang="en-US" sz="1200" b="0" i="1" dirty="0"/>
              <a:t>個 </a:t>
            </a:r>
            <a:r>
              <a:rPr lang="en-US" sz="1200" b="0" i="1" dirty="0"/>
              <a:t>pods </a:t>
            </a:r>
            <a:r>
              <a:rPr lang="zh-TW" altLang="en-US" sz="1200" b="0" i="1" dirty="0"/>
              <a:t>往上擴。流量降下來之後，也可以 </a:t>
            </a:r>
            <a:r>
              <a:rPr lang="en-US" sz="1200" b="0" i="1" dirty="0"/>
              <a:t>scale in。</a:t>
            </a:r>
            <a:r>
              <a:rPr lang="zh-TW" altLang="en-US" sz="1200" b="0" i="1" dirty="0"/>
              <a:t>這裡的好處是，</a:t>
            </a:r>
            <a:r>
              <a:rPr lang="en-US" sz="1200" b="0" i="1" dirty="0"/>
              <a:t>autoscaling </a:t>
            </a:r>
            <a:r>
              <a:rPr lang="zh-TW" altLang="en-US" sz="1200" b="0" i="1" dirty="0"/>
              <a:t>的依據不是主觀估計 </a:t>
            </a:r>
            <a:r>
              <a:rPr lang="en-US" sz="1200" b="0" i="1" dirty="0"/>
              <a:t>CPU，</a:t>
            </a:r>
            <a:r>
              <a:rPr lang="zh-TW" altLang="en-US" sz="1200" b="0" i="1" dirty="0"/>
              <a:t>而是直接看入口流量對每個 </a:t>
            </a:r>
            <a:r>
              <a:rPr lang="en-US" sz="1200" b="0" i="1" dirty="0"/>
              <a:t>web pod </a:t>
            </a:r>
            <a:r>
              <a:rPr lang="zh-TW" altLang="en-US" sz="1200" b="0" i="1" dirty="0"/>
              <a:t>的壓力。</a:t>
            </a:r>
          </a:p>
          <a:p>
            <a:endParaRPr lang="zh-TW" altLang="en-US" sz="1200" b="0" i="1" dirty="0"/>
          </a:p>
          <a:p>
            <a:r>
              <a:rPr lang="zh-TW" altLang="en-US" sz="1200" b="0" i="1" dirty="0"/>
              <a:t>下面的 </a:t>
            </a:r>
            <a:r>
              <a:rPr lang="en-US" sz="1200" b="0" i="1" dirty="0"/>
              <a:t>Grafana </a:t>
            </a:r>
            <a:r>
              <a:rPr lang="zh-TW" altLang="en-US" sz="1200" b="0" i="1" dirty="0"/>
              <a:t>也是讀 </a:t>
            </a:r>
            <a:r>
              <a:rPr lang="en-US" sz="1200" b="0" i="1" dirty="0"/>
              <a:t>Prometheus，</a:t>
            </a:r>
            <a:r>
              <a:rPr lang="zh-TW" altLang="en-US" sz="1200" b="0" i="1" dirty="0"/>
              <a:t>所以 </a:t>
            </a:r>
            <a:r>
              <a:rPr lang="en-US" sz="1200" b="0" i="1" dirty="0"/>
              <a:t>demo </a:t>
            </a:r>
            <a:r>
              <a:rPr lang="zh-TW" altLang="en-US" sz="1200" b="0" i="1" dirty="0"/>
              <a:t>時可以把三件事串起來看：第一，</a:t>
            </a:r>
            <a:r>
              <a:rPr lang="en-US" sz="1200" b="0" i="1" dirty="0"/>
              <a:t>request rate </a:t>
            </a:r>
            <a:r>
              <a:rPr lang="zh-TW" altLang="en-US" sz="1200" b="0" i="1" dirty="0"/>
              <a:t>有沒有上升；第二，</a:t>
            </a:r>
            <a:r>
              <a:rPr lang="en-US" sz="1200" b="0" i="1" dirty="0"/>
              <a:t>HPA </a:t>
            </a:r>
            <a:r>
              <a:rPr lang="zh-TW" altLang="en-US" sz="1200" b="0" i="1" dirty="0"/>
              <a:t>有沒有真的 </a:t>
            </a:r>
            <a:r>
              <a:rPr lang="en-US" sz="1200" b="0" i="1" dirty="0"/>
              <a:t>scale out；</a:t>
            </a:r>
            <a:r>
              <a:rPr lang="zh-TW" altLang="en-US" sz="1200" b="0" i="1" dirty="0"/>
              <a:t>第三，新的 </a:t>
            </a:r>
            <a:r>
              <a:rPr lang="en-US" sz="1200" b="0" i="1" dirty="0"/>
              <a:t>web pods </a:t>
            </a:r>
            <a:r>
              <a:rPr lang="zh-TW" altLang="en-US" sz="1200" b="0" i="1" dirty="0"/>
              <a:t>起來之後，流量是不是被分散。這樣監控和 </a:t>
            </a:r>
            <a:r>
              <a:rPr lang="en-US" sz="1200" b="0" i="1" dirty="0"/>
              <a:t>autoscaling </a:t>
            </a:r>
            <a:r>
              <a:rPr lang="zh-TW" altLang="en-US" sz="1200" b="0" i="1" dirty="0"/>
              <a:t>就不是兩套各講各的東西，而是共用同一個 </a:t>
            </a:r>
            <a:r>
              <a:rPr lang="en-US" sz="1200" b="0" i="1" dirty="0"/>
              <a:t>Prometheus signal。</a:t>
            </a:r>
            <a:endParaRPr sz="1200" b="0" i="1" dirty="0"/>
          </a:p>
        </p:txBody>
      </p:sp>
      <p:sp>
        <p:nvSpPr>
          <p:cNvPr id="4" name="Slide Number Placeholder 3">
            <a:extLst>
              <a:ext uri="{FF2B5EF4-FFF2-40B4-BE49-F238E27FC236}">
                <a16:creationId xmlns:a16="http://schemas.microsoft.com/office/drawing/2014/main" id="{F859C624-44B8-6D68-0CE1-60E082B34F3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76666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sz="1200" b="0" i="1" dirty="0"/>
              <a:t>最後這一頁是 </a:t>
            </a:r>
            <a:r>
              <a:rPr lang="en-US" sz="1200" b="0" i="1" dirty="0"/>
              <a:t>CI/CD Flow and Testing Strategy，</a:t>
            </a:r>
            <a:r>
              <a:rPr lang="zh-TW" altLang="en-US" sz="1200" b="0" i="1" dirty="0"/>
              <a:t>也就是我們怎麼證明這個系統不是只在本機可以跑，而是可以被穩定 </a:t>
            </a:r>
            <a:r>
              <a:rPr lang="en-US" sz="1200" b="0" i="1" dirty="0"/>
              <a:t>build、</a:t>
            </a:r>
            <a:r>
              <a:rPr lang="zh-TW" altLang="en-US" sz="1200" b="0" i="1" dirty="0"/>
              <a:t>驗證和部署。</a:t>
            </a:r>
          </a:p>
          <a:p>
            <a:endParaRPr lang="zh-TW" altLang="en-US" sz="1200" b="0" i="1" dirty="0"/>
          </a:p>
          <a:p>
            <a:r>
              <a:rPr lang="zh-TW" altLang="en-US" sz="1200" b="0" i="1" dirty="0"/>
              <a:t>先看上半部。當 </a:t>
            </a:r>
            <a:r>
              <a:rPr lang="en-US" sz="1200" b="0" i="1" dirty="0"/>
              <a:t>PR </a:t>
            </a:r>
            <a:r>
              <a:rPr lang="zh-TW" altLang="en-US" sz="1200" b="0" i="1" dirty="0"/>
              <a:t>或 </a:t>
            </a:r>
            <a:r>
              <a:rPr lang="en-US" sz="1200" b="0" i="1" dirty="0"/>
              <a:t>feature branch push </a:t>
            </a:r>
            <a:r>
              <a:rPr lang="zh-TW" altLang="en-US" sz="1200" b="0" i="1" dirty="0"/>
              <a:t>發生時，</a:t>
            </a:r>
            <a:r>
              <a:rPr lang="en-US" sz="1200" b="0" i="1" dirty="0"/>
              <a:t>GitHub Actions CI </a:t>
            </a:r>
            <a:r>
              <a:rPr lang="zh-TW" altLang="en-US" sz="1200" b="0" i="1" dirty="0"/>
              <a:t>會先跑基本品質檢查，包括 </a:t>
            </a:r>
            <a:r>
              <a:rPr lang="en-US" sz="1200" b="0" i="1" dirty="0" err="1"/>
              <a:t>gofmt、go</a:t>
            </a:r>
            <a:r>
              <a:rPr lang="en-US" sz="1200" b="0" i="1" dirty="0"/>
              <a:t> test ./...，</a:t>
            </a:r>
            <a:r>
              <a:rPr lang="zh-TW" altLang="en-US" sz="1200" b="0" i="1" dirty="0"/>
              <a:t>以及前端的 </a:t>
            </a:r>
            <a:r>
              <a:rPr lang="en-US" sz="1200" b="0" i="1" dirty="0" err="1"/>
              <a:t>npm</a:t>
            </a:r>
            <a:r>
              <a:rPr lang="en-US" sz="1200" b="0" i="1" dirty="0"/>
              <a:t> run </a:t>
            </a:r>
            <a:r>
              <a:rPr lang="en-US" sz="1200" b="0" i="1" dirty="0" err="1"/>
              <a:t>test:web</a:t>
            </a:r>
            <a:r>
              <a:rPr lang="en-US" sz="1200" b="0" i="1" dirty="0"/>
              <a:t>。</a:t>
            </a:r>
            <a:r>
              <a:rPr lang="zh-TW" altLang="en-US" sz="1200" b="0" i="1" dirty="0"/>
              <a:t>接著它會 </a:t>
            </a:r>
            <a:r>
              <a:rPr lang="en-US" sz="1200" b="0" i="1" dirty="0"/>
              <a:t>build </a:t>
            </a:r>
            <a:r>
              <a:rPr lang="en-US" sz="1200" b="0" i="1" dirty="0" err="1"/>
              <a:t>api、worker、web</a:t>
            </a:r>
            <a:r>
              <a:rPr lang="en-US" sz="1200" b="0" i="1" dirty="0"/>
              <a:t> </a:t>
            </a:r>
            <a:r>
              <a:rPr lang="zh-TW" altLang="en-US" sz="1200" b="0" i="1" dirty="0"/>
              <a:t>三個 </a:t>
            </a:r>
            <a:r>
              <a:rPr lang="en-US" sz="1200" b="0" i="1" dirty="0"/>
              <a:t>Docker images。</a:t>
            </a:r>
            <a:r>
              <a:rPr lang="zh-TW" altLang="en-US" sz="1200" b="0" i="1" dirty="0"/>
              <a:t>這一步是為了證明 </a:t>
            </a:r>
            <a:r>
              <a:rPr lang="en-US" sz="1200" b="0" i="1" dirty="0"/>
              <a:t>image build </a:t>
            </a:r>
            <a:r>
              <a:rPr lang="zh-TW" altLang="en-US" sz="1200" b="0" i="1" dirty="0"/>
              <a:t>得起來，但 </a:t>
            </a:r>
            <a:r>
              <a:rPr lang="en-US" sz="1200" b="0" i="1" dirty="0"/>
              <a:t>feature branch </a:t>
            </a:r>
            <a:r>
              <a:rPr lang="zh-TW" altLang="en-US" sz="1200" b="0" i="1" dirty="0"/>
              <a:t>不會直接 </a:t>
            </a:r>
            <a:r>
              <a:rPr lang="en-US" sz="1200" b="0" i="1" dirty="0"/>
              <a:t>publish image，</a:t>
            </a:r>
            <a:r>
              <a:rPr lang="zh-TW" altLang="en-US" sz="1200" b="0" i="1" dirty="0"/>
              <a:t>避免還沒 </a:t>
            </a:r>
            <a:r>
              <a:rPr lang="en-US" sz="1200" b="0" i="1" dirty="0"/>
              <a:t>merge </a:t>
            </a:r>
            <a:r>
              <a:rPr lang="zh-TW" altLang="en-US" sz="1200" b="0" i="1" dirty="0"/>
              <a:t>的版本被拿去部署。</a:t>
            </a:r>
          </a:p>
          <a:p>
            <a:endParaRPr lang="zh-TW" altLang="en-US" sz="1200" b="0" i="1" dirty="0"/>
          </a:p>
          <a:p>
            <a:r>
              <a:rPr lang="zh-TW" altLang="en-US" sz="1200" b="0" i="1" dirty="0"/>
              <a:t>再往右看，</a:t>
            </a:r>
            <a:r>
              <a:rPr lang="en-US" sz="1200" b="0" i="1" dirty="0"/>
              <a:t>CI </a:t>
            </a:r>
            <a:r>
              <a:rPr lang="zh-TW" altLang="en-US" sz="1200" b="0" i="1" dirty="0"/>
              <a:t>還會做 </a:t>
            </a:r>
            <a:r>
              <a:rPr lang="en-US" sz="1200" b="0" i="1" dirty="0"/>
              <a:t>Helm render，</a:t>
            </a:r>
            <a:r>
              <a:rPr lang="zh-TW" altLang="en-US" sz="1200" b="0" i="1" dirty="0"/>
              <a:t>包含 </a:t>
            </a:r>
            <a:r>
              <a:rPr lang="en-US" sz="1200" b="0" i="1" dirty="0"/>
              <a:t>chart-static </a:t>
            </a:r>
            <a:r>
              <a:rPr lang="zh-TW" altLang="en-US" sz="1200" b="0" i="1" dirty="0"/>
              <a:t>和 </a:t>
            </a:r>
            <a:r>
              <a:rPr lang="en-US" sz="1200" b="0" i="1" dirty="0"/>
              <a:t>verify-</a:t>
            </a:r>
            <a:r>
              <a:rPr lang="en-US" sz="1200" b="0" i="1" dirty="0" err="1"/>
              <a:t>hpa</a:t>
            </a:r>
            <a:r>
              <a:rPr lang="en-US" sz="1200" b="0" i="1" dirty="0"/>
              <a:t>-render。</a:t>
            </a:r>
            <a:r>
              <a:rPr lang="zh-TW" altLang="en-US" sz="1200" b="0" i="1" dirty="0"/>
              <a:t>這一步很重要，因為很多 </a:t>
            </a:r>
            <a:r>
              <a:rPr lang="en-US" sz="1200" b="0" i="1" dirty="0"/>
              <a:t>Kubernetes </a:t>
            </a:r>
            <a:r>
              <a:rPr lang="zh-TW" altLang="en-US" sz="1200" b="0" i="1" dirty="0"/>
              <a:t>問題不是 </a:t>
            </a:r>
            <a:r>
              <a:rPr lang="en-US" sz="1200" b="0" i="1" dirty="0"/>
              <a:t>Go test </a:t>
            </a:r>
            <a:r>
              <a:rPr lang="zh-TW" altLang="en-US" sz="1200" b="0" i="1" dirty="0"/>
              <a:t>會抓到的，而是 </a:t>
            </a:r>
            <a:r>
              <a:rPr lang="en-US" sz="1200" b="0" i="1" dirty="0"/>
              <a:t>chart template render </a:t>
            </a:r>
            <a:r>
              <a:rPr lang="zh-TW" altLang="en-US" sz="1200" b="0" i="1" dirty="0"/>
              <a:t>出來才看得到。特別是 </a:t>
            </a:r>
            <a:r>
              <a:rPr lang="en-US" sz="1200" b="0" i="1" dirty="0" err="1"/>
              <a:t>HPA、KEDA、image</a:t>
            </a:r>
            <a:r>
              <a:rPr lang="en-US" sz="1200" b="0" i="1" dirty="0"/>
              <a:t> </a:t>
            </a:r>
            <a:r>
              <a:rPr lang="en-US" sz="1200" b="0" i="1" dirty="0" err="1"/>
              <a:t>tag、service</a:t>
            </a:r>
            <a:r>
              <a:rPr lang="en-US" sz="1200" b="0" i="1" dirty="0"/>
              <a:t> selector </a:t>
            </a:r>
            <a:r>
              <a:rPr lang="zh-TW" altLang="en-US" sz="1200" b="0" i="1" dirty="0"/>
              <a:t>這類部署設定，都需要在 </a:t>
            </a:r>
            <a:r>
              <a:rPr lang="en-US" sz="1200" b="0" i="1" dirty="0"/>
              <a:t>merge </a:t>
            </a:r>
            <a:r>
              <a:rPr lang="zh-TW" altLang="en-US" sz="1200" b="0" i="1" dirty="0"/>
              <a:t>前先驗證。</a:t>
            </a:r>
          </a:p>
          <a:p>
            <a:endParaRPr lang="zh-TW" altLang="en-US" sz="1200" b="0" i="1" dirty="0"/>
          </a:p>
          <a:p>
            <a:r>
              <a:rPr lang="zh-TW" altLang="en-US" sz="1200" b="0" i="1" dirty="0"/>
              <a:t>下半部才是 </a:t>
            </a:r>
            <a:r>
              <a:rPr lang="en-US" sz="1200" b="0" i="1" dirty="0"/>
              <a:t>release path。</a:t>
            </a:r>
            <a:r>
              <a:rPr lang="zh-TW" altLang="en-US" sz="1200" b="0" i="1" dirty="0"/>
              <a:t>只有 </a:t>
            </a:r>
            <a:r>
              <a:rPr lang="en-US" sz="1200" b="0" i="1" dirty="0" err="1"/>
              <a:t>main、release</a:t>
            </a:r>
            <a:r>
              <a:rPr lang="en-US" sz="1200" b="0" i="1" dirty="0"/>
              <a:t>/**，</a:t>
            </a:r>
            <a:r>
              <a:rPr lang="zh-TW" altLang="en-US" sz="1200" b="0" i="1" dirty="0"/>
              <a:t>或 </a:t>
            </a:r>
            <a:r>
              <a:rPr lang="en-US" sz="1200" b="0" i="1" dirty="0"/>
              <a:t>manual workflow dispatch </a:t>
            </a:r>
            <a:r>
              <a:rPr lang="zh-TW" altLang="en-US" sz="1200" b="0" i="1" dirty="0"/>
              <a:t>會進 </a:t>
            </a:r>
            <a:r>
              <a:rPr lang="en-US" sz="1200" b="0" i="1" dirty="0"/>
              <a:t>Docker publish，</a:t>
            </a:r>
            <a:r>
              <a:rPr lang="zh-TW" altLang="en-US" sz="1200" b="0" i="1" dirty="0"/>
              <a:t>把 </a:t>
            </a:r>
            <a:r>
              <a:rPr lang="en-US" sz="1200" b="0" i="1" dirty="0"/>
              <a:t>image tags </a:t>
            </a:r>
            <a:r>
              <a:rPr lang="zh-TW" altLang="en-US" sz="1200" b="0" i="1" dirty="0"/>
              <a:t>推到 </a:t>
            </a:r>
            <a:r>
              <a:rPr lang="en-US" sz="1200" b="0" i="1" dirty="0"/>
              <a:t>Docker Hub。</a:t>
            </a:r>
            <a:r>
              <a:rPr lang="zh-TW" altLang="en-US" sz="1200" b="0" i="1" dirty="0"/>
              <a:t>真正部署時，再透過 </a:t>
            </a:r>
            <a:r>
              <a:rPr lang="en-US" sz="1200" b="0" i="1" dirty="0"/>
              <a:t>Helm </a:t>
            </a:r>
            <a:r>
              <a:rPr lang="en-US" sz="1200" b="0" i="1" dirty="0" err="1"/>
              <a:t>values.yaml</a:t>
            </a:r>
            <a:r>
              <a:rPr lang="en-US" sz="1200" b="0" i="1" dirty="0"/>
              <a:t> </a:t>
            </a:r>
            <a:r>
              <a:rPr lang="zh-TW" altLang="en-US" sz="1200" b="0" i="1" dirty="0"/>
              <a:t>選擇 </a:t>
            </a:r>
            <a:r>
              <a:rPr lang="en-US" sz="1200" b="0" i="1" dirty="0"/>
              <a:t>release tag，</a:t>
            </a:r>
            <a:r>
              <a:rPr lang="zh-TW" altLang="en-US" sz="1200" b="0" i="1" dirty="0"/>
              <a:t>最後用 </a:t>
            </a:r>
            <a:r>
              <a:rPr lang="en-US" sz="1200" b="0" i="1" dirty="0"/>
              <a:t>verify-k8s、verify-hpa-behavior </a:t>
            </a:r>
            <a:r>
              <a:rPr lang="zh-TW" altLang="en-US" sz="1200" b="0" i="1" dirty="0"/>
              <a:t>和 </a:t>
            </a:r>
            <a:r>
              <a:rPr lang="en-US" sz="1200" b="0" i="1" dirty="0"/>
              <a:t>Grafana check </a:t>
            </a:r>
            <a:r>
              <a:rPr lang="zh-TW" altLang="en-US" sz="1200" b="0" i="1" dirty="0"/>
              <a:t>去確認 </a:t>
            </a:r>
            <a:r>
              <a:rPr lang="en-US" sz="1200" b="0" i="1" dirty="0"/>
              <a:t>GKE </a:t>
            </a:r>
            <a:r>
              <a:rPr lang="zh-TW" altLang="en-US" sz="1200" b="0" i="1" dirty="0"/>
              <a:t>上的實際行為。所以這張圖要帶走的是：</a:t>
            </a:r>
            <a:r>
              <a:rPr lang="en-US" sz="1200" b="0" i="1" dirty="0"/>
              <a:t>CI </a:t>
            </a:r>
            <a:r>
              <a:rPr lang="zh-TW" altLang="en-US" sz="1200" b="0" i="1" dirty="0"/>
              <a:t>負責擋程式碼和 </a:t>
            </a:r>
            <a:r>
              <a:rPr lang="en-US" sz="1200" b="0" i="1" dirty="0"/>
              <a:t>chart </a:t>
            </a:r>
            <a:r>
              <a:rPr lang="zh-TW" altLang="en-US" sz="1200" b="0" i="1" dirty="0"/>
              <a:t>的錯，</a:t>
            </a:r>
            <a:r>
              <a:rPr lang="en-US" sz="1200" b="0" i="1" dirty="0"/>
              <a:t>CD </a:t>
            </a:r>
            <a:r>
              <a:rPr lang="zh-TW" altLang="en-US" sz="1200" b="0" i="1" dirty="0"/>
              <a:t>負責把已確認的 </a:t>
            </a:r>
            <a:r>
              <a:rPr lang="en-US" sz="1200" b="0" i="1" dirty="0"/>
              <a:t>release image </a:t>
            </a:r>
            <a:r>
              <a:rPr lang="zh-TW" altLang="en-US" sz="1200" b="0" i="1" dirty="0"/>
              <a:t>推出去，最後再用 </a:t>
            </a:r>
            <a:r>
              <a:rPr lang="en-US" sz="1200" b="0" i="1" dirty="0"/>
              <a:t>Kubernetes </a:t>
            </a:r>
            <a:r>
              <a:rPr lang="zh-TW" altLang="en-US" sz="1200" b="0" i="1" dirty="0"/>
              <a:t>和 </a:t>
            </a:r>
            <a:r>
              <a:rPr lang="en-US" sz="1200" b="0" i="1" dirty="0"/>
              <a:t>Grafana </a:t>
            </a:r>
            <a:r>
              <a:rPr lang="zh-TW" altLang="en-US" sz="1200" b="0" i="1" dirty="0"/>
              <a:t>做 </a:t>
            </a:r>
            <a:r>
              <a:rPr lang="en-US" sz="1200" b="0" i="1" dirty="0"/>
              <a:t>runtime verification。</a:t>
            </a:r>
            <a:endParaRPr sz="1200" b="0" i="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a:t>這一頁保留給現場 demo，不放額外內容，避免觀眾同時讀投影片和看操作畫面。Demo 建議照著前面主線走：先用 Sales 建立訂單並做 preview，再切到 Scheduler 產生正式 preview 並建立 schedule job，接著說明 job 進 Kafka、worker 取得 Redis lock、結果寫回 PostgreSQL，最後用 calendar/history 和 Grafana/HPA 畫面證明系統狀態和 autoscaling 指標都有被串起來。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dirty="0">
                <a:latin typeface="Microsoft JhengHei" panose="020B0604030504040204" pitchFamily="34" charset="-120"/>
                <a:ea typeface="Microsoft JhengHei" panose="020B0604030504040204" pitchFamily="34" charset="-120"/>
              </a:rPr>
              <a:t>最後這邊我想把整個專案收斂回 </a:t>
            </a:r>
            <a:r>
              <a:rPr lang="en-US" altLang="zh-TW" sz="1200" b="0" i="0" dirty="0" err="1">
                <a:latin typeface="Microsoft JhengHei" panose="020B0604030504040204" pitchFamily="34" charset="-120"/>
                <a:ea typeface="Microsoft JhengHei" panose="020B0604030504040204" pitchFamily="34" charset="-120"/>
              </a:rPr>
              <a:t>requirement.pdf</a:t>
            </a:r>
            <a:r>
              <a:rPr lang="zh-TW" altLang="en-US" sz="1200" b="0" i="0" dirty="0">
                <a:latin typeface="Microsoft JhengHei" panose="020B0604030504040204" pitchFamily="34" charset="-120"/>
                <a:ea typeface="Microsoft JhengHei" panose="020B0604030504040204" pitchFamily="34" charset="-120"/>
              </a:rPr>
              <a:t>。這一頁不是再介紹新功能，而是把前面講過的實作，對回課程要求和評分標準。</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i="0" dirty="0">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dirty="0">
                <a:latin typeface="Microsoft JhengHei" panose="020B0604030504040204" pitchFamily="34" charset="-120"/>
                <a:ea typeface="Microsoft JhengHei" panose="020B0604030504040204" pitchFamily="34" charset="-120"/>
              </a:rPr>
              <a:t>先看左邊，這是 </a:t>
            </a:r>
            <a:r>
              <a:rPr lang="en-US" altLang="zh-TW" sz="1200" b="0" i="0" dirty="0">
                <a:latin typeface="Microsoft JhengHei" panose="020B0604030504040204" pitchFamily="34" charset="-120"/>
                <a:ea typeface="Microsoft JhengHei" panose="020B0604030504040204" pitchFamily="34" charset="-120"/>
              </a:rPr>
              <a:t>system requirement coverage</a:t>
            </a:r>
            <a:r>
              <a:rPr lang="zh-TW" altLang="en-US" sz="1200" b="0" i="0" dirty="0">
                <a:latin typeface="Microsoft JhengHei" panose="020B0604030504040204" pitchFamily="34" charset="-120"/>
                <a:ea typeface="Microsoft JhengHei" panose="020B0604030504040204" pitchFamily="34" charset="-120"/>
              </a:rPr>
              <a:t>。第一，</a:t>
            </a:r>
            <a:r>
              <a:rPr lang="en-US" altLang="zh-TW" sz="1200" b="0" i="0" dirty="0">
                <a:latin typeface="Microsoft JhengHei" panose="020B0604030504040204" pitchFamily="34" charset="-120"/>
                <a:ea typeface="Microsoft JhengHei" panose="020B0604030504040204" pitchFamily="34" charset="-120"/>
              </a:rPr>
              <a:t>Order CRUD</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WOMS </a:t>
            </a:r>
            <a:r>
              <a:rPr lang="zh-TW" altLang="en-US" sz="1200" b="0" i="0" dirty="0">
                <a:latin typeface="Microsoft JhengHei" panose="020B0604030504040204" pitchFamily="34" charset="-120"/>
                <a:ea typeface="Microsoft JhengHei" panose="020B0604030504040204" pitchFamily="34" charset="-120"/>
              </a:rPr>
              <a:t>已經支援 </a:t>
            </a:r>
            <a:r>
              <a:rPr lang="en-US" altLang="zh-TW" sz="1200" b="0" i="0" dirty="0">
                <a:latin typeface="Microsoft JhengHei" panose="020B0604030504040204" pitchFamily="34" charset="-120"/>
                <a:ea typeface="Microsoft JhengHei" panose="020B0604030504040204" pitchFamily="34" charset="-120"/>
              </a:rPr>
              <a:t>admin </a:t>
            </a:r>
            <a:r>
              <a:rPr lang="zh-TW" altLang="en-US" sz="1200" b="0" i="0" dirty="0">
                <a:latin typeface="Microsoft JhengHei" panose="020B0604030504040204" pitchFamily="34" charset="-120"/>
                <a:ea typeface="Microsoft JhengHei" panose="020B0604030504040204" pitchFamily="34" charset="-120"/>
              </a:rPr>
              <a:t>或 </a:t>
            </a:r>
            <a:r>
              <a:rPr lang="en-US" altLang="zh-TW" sz="1200" b="0" i="0" dirty="0">
                <a:latin typeface="Microsoft JhengHei" panose="020B0604030504040204" pitchFamily="34" charset="-120"/>
                <a:ea typeface="Microsoft JhengHei" panose="020B0604030504040204" pitchFamily="34" charset="-120"/>
              </a:rPr>
              <a:t>sales </a:t>
            </a:r>
            <a:r>
              <a:rPr lang="zh-TW" altLang="en-US" sz="1200" b="0" i="0" dirty="0">
                <a:latin typeface="Microsoft JhengHei" panose="020B0604030504040204" pitchFamily="34" charset="-120"/>
                <a:ea typeface="Microsoft JhengHei" panose="020B0604030504040204" pitchFamily="34" charset="-120"/>
              </a:rPr>
              <a:t>建立、修改和取消 </a:t>
            </a:r>
            <a:r>
              <a:rPr lang="en-US" altLang="zh-TW" sz="1200" b="0" i="0" dirty="0">
                <a:latin typeface="Microsoft JhengHei" panose="020B0604030504040204" pitchFamily="34" charset="-120"/>
                <a:ea typeface="Microsoft JhengHei" panose="020B0604030504040204" pitchFamily="34" charset="-120"/>
              </a:rPr>
              <a:t>wafer orders</a:t>
            </a:r>
            <a:r>
              <a:rPr lang="zh-TW" altLang="en-US" sz="1200" b="0" i="0" dirty="0">
                <a:latin typeface="Microsoft JhengHei" panose="020B0604030504040204" pitchFamily="34" charset="-120"/>
                <a:ea typeface="Microsoft JhengHei" panose="020B0604030504040204" pitchFamily="34" charset="-120"/>
              </a:rPr>
              <a:t>。第二，</a:t>
            </a:r>
            <a:r>
              <a:rPr lang="en-US" altLang="zh-TW" sz="1200" b="0" i="0" dirty="0">
                <a:latin typeface="Microsoft JhengHei" panose="020B0604030504040204" pitchFamily="34" charset="-120"/>
                <a:ea typeface="Microsoft JhengHei" panose="020B0604030504040204" pitchFamily="34" charset="-120"/>
              </a:rPr>
              <a:t>Search + Status</a:t>
            </a:r>
            <a:r>
              <a:rPr lang="zh-TW" altLang="en-US" sz="1200" b="0" i="0" dirty="0">
                <a:latin typeface="Microsoft JhengHei" panose="020B0604030504040204" pitchFamily="34" charset="-120"/>
                <a:ea typeface="Microsoft JhengHei" panose="020B0604030504040204" pitchFamily="34" charset="-120"/>
              </a:rPr>
              <a:t>，系統可以依照 </a:t>
            </a:r>
            <a:r>
              <a:rPr lang="en-US" altLang="zh-TW" sz="1200" b="0" i="0" dirty="0">
                <a:latin typeface="Microsoft JhengHei" panose="020B0604030504040204" pitchFamily="34" charset="-120"/>
                <a:ea typeface="Microsoft JhengHei" panose="020B0604030504040204" pitchFamily="34" charset="-120"/>
              </a:rPr>
              <a:t>pending</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scheduled</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in-production</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canceled </a:t>
            </a:r>
            <a:r>
              <a:rPr lang="zh-TW" altLang="en-US" sz="1200" b="0" i="0" dirty="0">
                <a:latin typeface="Microsoft JhengHei" panose="020B0604030504040204" pitchFamily="34" charset="-120"/>
                <a:ea typeface="Microsoft JhengHei" panose="020B0604030504040204" pitchFamily="34" charset="-120"/>
              </a:rPr>
              <a:t>這些狀態去查詢和追蹤訂單。第三，</a:t>
            </a:r>
            <a:r>
              <a:rPr lang="en-US" altLang="zh-TW" sz="1200" b="0" i="0" dirty="0">
                <a:latin typeface="Microsoft JhengHei" panose="020B0604030504040204" pitchFamily="34" charset="-120"/>
                <a:ea typeface="Microsoft JhengHei" panose="020B0604030504040204" pitchFamily="34" charset="-120"/>
              </a:rPr>
              <a:t>Capacity rules</a:t>
            </a:r>
            <a:r>
              <a:rPr lang="zh-TW" altLang="en-US" sz="1200" b="0" i="0" dirty="0">
                <a:latin typeface="Microsoft JhengHei" panose="020B0604030504040204" pitchFamily="34" charset="-120"/>
                <a:ea typeface="Microsoft JhengHei" panose="020B0604030504040204" pitchFamily="34" charset="-120"/>
              </a:rPr>
              <a:t>，我們不是只把訂單存進資料庫，而是有處理 </a:t>
            </a:r>
            <a:r>
              <a:rPr lang="en-US" altLang="zh-TW" sz="1200" b="0" i="0" dirty="0">
                <a:latin typeface="Microsoft JhengHei" panose="020B0604030504040204" pitchFamily="34" charset="-120"/>
                <a:ea typeface="Microsoft JhengHei" panose="020B0604030504040204" pitchFamily="34" charset="-120"/>
              </a:rPr>
              <a:t>due date</a:t>
            </a:r>
            <a:r>
              <a:rPr lang="zh-TW" altLang="en-US" sz="1200" b="0" i="0" dirty="0">
                <a:latin typeface="Microsoft JhengHei" panose="020B0604030504040204" pitchFamily="34" charset="-120"/>
                <a:ea typeface="Microsoft JhengHei" panose="020B0604030504040204" pitchFamily="34" charset="-120"/>
              </a:rPr>
              <a:t>、每筆訂單 </a:t>
            </a:r>
            <a:r>
              <a:rPr lang="en-US" altLang="zh-TW" sz="1200" b="0" i="0" dirty="0">
                <a:latin typeface="Microsoft JhengHei" panose="020B0604030504040204" pitchFamily="34" charset="-120"/>
                <a:ea typeface="Microsoft JhengHei" panose="020B0604030504040204" pitchFamily="34" charset="-120"/>
              </a:rPr>
              <a:t>25 </a:t>
            </a:r>
            <a:r>
              <a:rPr lang="zh-TW" altLang="en-US" sz="1200" b="0" i="0" dirty="0">
                <a:latin typeface="Microsoft JhengHei" panose="020B0604030504040204" pitchFamily="34" charset="-120"/>
                <a:ea typeface="Microsoft JhengHei" panose="020B0604030504040204" pitchFamily="34" charset="-120"/>
              </a:rPr>
              <a:t>到 </a:t>
            </a:r>
            <a:r>
              <a:rPr lang="en-US" altLang="zh-TW" sz="1200" b="0" i="0" dirty="0">
                <a:latin typeface="Microsoft JhengHei" panose="020B0604030504040204" pitchFamily="34" charset="-120"/>
                <a:ea typeface="Microsoft JhengHei" panose="020B0604030504040204" pitchFamily="34" charset="-120"/>
              </a:rPr>
              <a:t>2500 wafers</a:t>
            </a:r>
            <a:r>
              <a:rPr lang="zh-TW" altLang="en-US" sz="1200" b="0" i="0" dirty="0">
                <a:latin typeface="Microsoft JhengHei" panose="020B0604030504040204" pitchFamily="34" charset="-120"/>
                <a:ea typeface="Microsoft JhengHei" panose="020B0604030504040204" pitchFamily="34" charset="-120"/>
              </a:rPr>
              <a:t>，以及 </a:t>
            </a:r>
            <a:r>
              <a:rPr lang="en-US" altLang="zh-TW" sz="1200" b="0" i="0" dirty="0">
                <a:latin typeface="Microsoft JhengHei" panose="020B0604030504040204" pitchFamily="34" charset="-120"/>
                <a:ea typeface="Microsoft JhengHei" panose="020B0604030504040204" pitchFamily="34" charset="-120"/>
              </a:rPr>
              <a:t>daily capacity 10,000 </a:t>
            </a:r>
            <a:r>
              <a:rPr lang="zh-TW" altLang="en-US" sz="1200" b="0" i="0" dirty="0">
                <a:latin typeface="Microsoft JhengHei" panose="020B0604030504040204" pitchFamily="34" charset="-120"/>
                <a:ea typeface="Microsoft JhengHei" panose="020B0604030504040204" pitchFamily="34" charset="-120"/>
              </a:rPr>
              <a:t>的限制。第四，</a:t>
            </a:r>
            <a:r>
              <a:rPr lang="en-US" altLang="zh-TW" sz="1200" b="0" i="0" dirty="0">
                <a:latin typeface="Microsoft JhengHei" panose="020B0604030504040204" pitchFamily="34" charset="-120"/>
                <a:ea typeface="Microsoft JhengHei" panose="020B0604030504040204" pitchFamily="34" charset="-120"/>
              </a:rPr>
              <a:t>Scheduling</a:t>
            </a:r>
            <a:r>
              <a:rPr lang="zh-TW" altLang="en-US" sz="1200" b="0" i="0" dirty="0">
                <a:latin typeface="Microsoft JhengHei" panose="020B0604030504040204" pitchFamily="34" charset="-120"/>
                <a:ea typeface="Microsoft JhengHei" panose="020B0604030504040204" pitchFamily="34" charset="-120"/>
              </a:rPr>
              <a:t>，系統有 </a:t>
            </a:r>
            <a:r>
              <a:rPr lang="en-US" altLang="zh-TW" sz="1200" b="0" i="0" dirty="0">
                <a:latin typeface="Microsoft JhengHei" panose="020B0604030504040204" pitchFamily="34" charset="-120"/>
                <a:ea typeface="Microsoft JhengHei" panose="020B0604030504040204" pitchFamily="34" charset="-120"/>
              </a:rPr>
              <a:t>preview + confirm </a:t>
            </a:r>
            <a:r>
              <a:rPr lang="zh-TW" altLang="en-US" sz="1200" b="0" i="0" dirty="0">
                <a:latin typeface="Microsoft JhengHei" panose="020B0604030504040204" pitchFamily="34" charset="-120"/>
                <a:ea typeface="Microsoft JhengHei" panose="020B0604030504040204" pitchFamily="34" charset="-120"/>
              </a:rPr>
              <a:t>的流程，而且正式排程會透過 </a:t>
            </a:r>
            <a:r>
              <a:rPr lang="en-US" altLang="zh-TW" sz="1200" b="0" i="0" dirty="0">
                <a:latin typeface="Microsoft JhengHei" panose="020B0604030504040204" pitchFamily="34" charset="-120"/>
                <a:ea typeface="Microsoft JhengHei" panose="020B0604030504040204" pitchFamily="34" charset="-120"/>
              </a:rPr>
              <a:t>async worker </a:t>
            </a:r>
            <a:r>
              <a:rPr lang="zh-TW" altLang="en-US" sz="1200" b="0" i="0" dirty="0">
                <a:latin typeface="Microsoft JhengHei" panose="020B0604030504040204" pitchFamily="34" charset="-120"/>
                <a:ea typeface="Microsoft JhengHei" panose="020B0604030504040204" pitchFamily="34" charset="-120"/>
              </a:rPr>
              <a:t>重新計算 </a:t>
            </a:r>
            <a:r>
              <a:rPr lang="en-US" altLang="zh-TW" sz="1200" b="0" i="0" dirty="0">
                <a:latin typeface="Microsoft JhengHei" panose="020B0604030504040204" pitchFamily="34" charset="-120"/>
                <a:ea typeface="Microsoft JhengHei" panose="020B0604030504040204" pitchFamily="34" charset="-120"/>
              </a:rPr>
              <a:t>affected orders</a:t>
            </a:r>
            <a:r>
              <a:rPr lang="zh-TW" altLang="en-US" sz="1200" b="0" i="0" dirty="0">
                <a:latin typeface="Microsoft JhengHei" panose="020B0604030504040204" pitchFamily="34" charset="-120"/>
                <a:ea typeface="Microsoft JhengHei" panose="020B0604030504040204" pitchFamily="34" charset="-120"/>
              </a:rPr>
              <a:t>。第五，</a:t>
            </a:r>
            <a:r>
              <a:rPr lang="en-US" altLang="zh-TW" sz="1200" b="0" i="0" dirty="0">
                <a:latin typeface="Microsoft JhengHei" panose="020B0604030504040204" pitchFamily="34" charset="-120"/>
                <a:ea typeface="Microsoft JhengHei" panose="020B0604030504040204" pitchFamily="34" charset="-120"/>
              </a:rPr>
              <a:t>Capacity view</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calendar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list </a:t>
            </a:r>
            <a:r>
              <a:rPr lang="zh-TW" altLang="en-US" sz="1200" b="0" i="0" dirty="0">
                <a:latin typeface="Microsoft JhengHei" panose="020B0604030504040204" pitchFamily="34" charset="-120"/>
                <a:ea typeface="Microsoft JhengHei" panose="020B0604030504040204" pitchFamily="34" charset="-120"/>
              </a:rPr>
              <a:t>都可以看到每天的產能占用。</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i="0" dirty="0">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dirty="0">
                <a:latin typeface="Microsoft JhengHei" panose="020B0604030504040204" pitchFamily="34" charset="-120"/>
                <a:ea typeface="Microsoft JhengHei" panose="020B0604030504040204" pitchFamily="34" charset="-120"/>
              </a:rPr>
              <a:t>右邊是 </a:t>
            </a:r>
            <a:r>
              <a:rPr lang="en-US" altLang="zh-TW" sz="1200" b="0" i="0" dirty="0">
                <a:latin typeface="Microsoft JhengHei" panose="020B0604030504040204" pitchFamily="34" charset="-120"/>
                <a:ea typeface="Microsoft JhengHei" panose="020B0604030504040204" pitchFamily="34" charset="-120"/>
              </a:rPr>
              <a:t>evaluation criteria</a:t>
            </a:r>
            <a:r>
              <a:rPr lang="zh-TW" altLang="en-US" sz="1200" b="0" i="0" dirty="0">
                <a:latin typeface="Microsoft JhengHei" panose="020B0604030504040204" pitchFamily="34" charset="-120"/>
                <a:ea typeface="Microsoft JhengHei" panose="020B0604030504040204" pitchFamily="34" charset="-120"/>
              </a:rPr>
              <a:t>。第一，</a:t>
            </a:r>
            <a:r>
              <a:rPr lang="en-US" altLang="zh-TW" sz="1200" b="0" i="0" dirty="0">
                <a:latin typeface="Microsoft JhengHei" panose="020B0604030504040204" pitchFamily="34" charset="-120"/>
                <a:ea typeface="Microsoft JhengHei" panose="020B0604030504040204" pitchFamily="34" charset="-120"/>
              </a:rPr>
              <a:t>Requirement and Implementation</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demo </a:t>
            </a:r>
            <a:r>
              <a:rPr lang="zh-TW" altLang="en-US" sz="1200" b="0" i="0" dirty="0">
                <a:latin typeface="Microsoft JhengHei" panose="020B0604030504040204" pitchFamily="34" charset="-120"/>
                <a:ea typeface="Microsoft JhengHei" panose="020B0604030504040204" pitchFamily="34" charset="-120"/>
              </a:rPr>
              <a:t>會展示 </a:t>
            </a:r>
            <a:r>
              <a:rPr lang="en-US" altLang="zh-TW" sz="1200" b="0" i="0" dirty="0">
                <a:latin typeface="Microsoft JhengHei" panose="020B0604030504040204" pitchFamily="34" charset="-120"/>
                <a:ea typeface="Microsoft JhengHei" panose="020B0604030504040204" pitchFamily="34" charset="-120"/>
              </a:rPr>
              <a:t>Sales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Scheduler </a:t>
            </a:r>
            <a:r>
              <a:rPr lang="zh-TW" altLang="en-US" sz="1200" b="0" i="0" dirty="0">
                <a:latin typeface="Microsoft JhengHei" panose="020B0604030504040204" pitchFamily="34" charset="-120"/>
                <a:ea typeface="Microsoft JhengHei" panose="020B0604030504040204" pitchFamily="34" charset="-120"/>
              </a:rPr>
              <a:t>兩條 </a:t>
            </a:r>
            <a:r>
              <a:rPr lang="en-US" altLang="zh-TW" sz="1200" b="0" i="0" dirty="0">
                <a:latin typeface="Microsoft JhengHei" panose="020B0604030504040204" pitchFamily="34" charset="-120"/>
                <a:ea typeface="Microsoft JhengHei" panose="020B0604030504040204" pitchFamily="34" charset="-120"/>
              </a:rPr>
              <a:t>workflow</a:t>
            </a:r>
            <a:r>
              <a:rPr lang="zh-TW" altLang="en-US" sz="1200" b="0" i="0" dirty="0">
                <a:latin typeface="Microsoft JhengHei" panose="020B0604030504040204" pitchFamily="34" charset="-120"/>
                <a:ea typeface="Microsoft JhengHei" panose="020B0604030504040204" pitchFamily="34" charset="-120"/>
              </a:rPr>
              <a:t>，所以不是只有後端 </a:t>
            </a:r>
            <a:r>
              <a:rPr lang="en-US" altLang="zh-TW" sz="1200" b="0" i="0" dirty="0">
                <a:latin typeface="Microsoft JhengHei" panose="020B0604030504040204" pitchFamily="34" charset="-120"/>
                <a:ea typeface="Microsoft JhengHei" panose="020B0604030504040204" pitchFamily="34" charset="-120"/>
              </a:rPr>
              <a:t>API</a:t>
            </a:r>
            <a:r>
              <a:rPr lang="zh-TW" altLang="en-US" sz="1200" b="0" i="0" dirty="0">
                <a:latin typeface="Microsoft JhengHei" panose="020B0604030504040204" pitchFamily="34" charset="-120"/>
                <a:ea typeface="Microsoft JhengHei" panose="020B0604030504040204" pitchFamily="34" charset="-120"/>
              </a:rPr>
              <a:t>，而是有完整使用情境。第二，</a:t>
            </a:r>
            <a:r>
              <a:rPr lang="en-US" altLang="zh-TW" sz="1200" b="0" i="0" dirty="0">
                <a:latin typeface="Microsoft JhengHei" panose="020B0604030504040204" pitchFamily="34" charset="-120"/>
                <a:ea typeface="Microsoft JhengHei" panose="020B0604030504040204" pitchFamily="34" charset="-120"/>
              </a:rPr>
              <a:t>Code quality</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Go code </a:t>
            </a:r>
            <a:r>
              <a:rPr lang="zh-TW" altLang="en-US" sz="1200" b="0" i="0" dirty="0">
                <a:latin typeface="Microsoft JhengHei" panose="020B0604030504040204" pitchFamily="34" charset="-120"/>
                <a:ea typeface="Microsoft JhengHei" panose="020B0604030504040204" pitchFamily="34" charset="-120"/>
              </a:rPr>
              <a:t>有 </a:t>
            </a:r>
            <a:r>
              <a:rPr lang="en-US" altLang="zh-TW" sz="1200" b="0" i="0" dirty="0">
                <a:latin typeface="Microsoft JhengHei" panose="020B0604030504040204" pitchFamily="34" charset="-120"/>
                <a:ea typeface="Microsoft JhengHei" panose="020B0604030504040204" pitchFamily="34" charset="-120"/>
              </a:rPr>
              <a:t>package </a:t>
            </a:r>
            <a:r>
              <a:rPr lang="zh-TW" altLang="en-US" sz="1200" b="0" i="0" dirty="0">
                <a:latin typeface="Microsoft JhengHei" panose="020B0604030504040204" pitchFamily="34" charset="-120"/>
                <a:ea typeface="Microsoft JhengHei" panose="020B0604030504040204" pitchFamily="34" charset="-120"/>
              </a:rPr>
              <a:t>分層，並透過 </a:t>
            </a:r>
            <a:r>
              <a:rPr lang="en-US" altLang="zh-TW" sz="1200" b="0" i="0" dirty="0" err="1">
                <a:latin typeface="Microsoft JhengHei" panose="020B0604030504040204" pitchFamily="34" charset="-120"/>
                <a:ea typeface="Microsoft JhengHei" panose="020B0604030504040204" pitchFamily="34" charset="-120"/>
              </a:rPr>
              <a:t>gofmt</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Go tests</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web tests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CI </a:t>
            </a:r>
            <a:r>
              <a:rPr lang="zh-TW" altLang="en-US" sz="1200" b="0" i="0" dirty="0">
                <a:latin typeface="Microsoft JhengHei" panose="020B0604030504040204" pitchFamily="34" charset="-120"/>
                <a:ea typeface="Microsoft JhengHei" panose="020B0604030504040204" pitchFamily="34" charset="-120"/>
              </a:rPr>
              <a:t>檢查。第三，</a:t>
            </a:r>
            <a:r>
              <a:rPr lang="en-US" altLang="zh-TW" sz="1200" b="0" i="0" dirty="0">
                <a:latin typeface="Microsoft JhengHei" panose="020B0604030504040204" pitchFamily="34" charset="-120"/>
                <a:ea typeface="Microsoft JhengHei" panose="020B0604030504040204" pitchFamily="34" charset="-120"/>
              </a:rPr>
              <a:t>Architecture and Scalability</a:t>
            </a:r>
            <a:r>
              <a:rPr lang="zh-TW" altLang="en-US" sz="1200" b="0" i="0" dirty="0">
                <a:latin typeface="Microsoft JhengHei" panose="020B0604030504040204" pitchFamily="34" charset="-120"/>
                <a:ea typeface="Microsoft JhengHei" panose="020B0604030504040204" pitchFamily="34" charset="-120"/>
              </a:rPr>
              <a:t>，系統拆成 </a:t>
            </a:r>
            <a:r>
              <a:rPr lang="en-US" altLang="zh-TW" sz="1200" b="0" i="0" dirty="0">
                <a:latin typeface="Microsoft JhengHei" panose="020B0604030504040204" pitchFamily="34" charset="-120"/>
                <a:ea typeface="Microsoft JhengHei" panose="020B0604030504040204" pitchFamily="34" charset="-120"/>
              </a:rPr>
              <a:t>API</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worker</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PostgreSQL</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Kafka</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Redis</a:t>
            </a:r>
            <a:r>
              <a:rPr lang="zh-TW" altLang="en-US" sz="1200" b="0" i="0" dirty="0">
                <a:latin typeface="Microsoft JhengHei" panose="020B0604030504040204" pitchFamily="34" charset="-120"/>
                <a:ea typeface="Microsoft JhengHei" panose="020B0604030504040204" pitchFamily="34" charset="-120"/>
              </a:rPr>
              <a:t>，再透過 </a:t>
            </a:r>
            <a:r>
              <a:rPr lang="en-US" altLang="zh-TW" sz="1200" b="0" i="0" dirty="0">
                <a:latin typeface="Microsoft JhengHei" panose="020B0604030504040204" pitchFamily="34" charset="-120"/>
                <a:ea typeface="Microsoft JhengHei" panose="020B0604030504040204" pitchFamily="34" charset="-120"/>
              </a:rPr>
              <a:t>GKE</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Helm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KEDA/HPA </a:t>
            </a:r>
            <a:r>
              <a:rPr lang="zh-TW" altLang="en-US" sz="1200" b="0" i="0" dirty="0">
                <a:latin typeface="Microsoft JhengHei" panose="020B0604030504040204" pitchFamily="34" charset="-120"/>
                <a:ea typeface="Microsoft JhengHei" panose="020B0604030504040204" pitchFamily="34" charset="-120"/>
              </a:rPr>
              <a:t>做 </a:t>
            </a:r>
            <a:r>
              <a:rPr lang="en-US" altLang="zh-TW" sz="1200" b="0" i="0" dirty="0">
                <a:latin typeface="Microsoft JhengHei" panose="020B0604030504040204" pitchFamily="34" charset="-120"/>
                <a:ea typeface="Microsoft JhengHei" panose="020B0604030504040204" pitchFamily="34" charset="-120"/>
              </a:rPr>
              <a:t>cloud-native deployment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autoscaling</a:t>
            </a:r>
            <a:r>
              <a:rPr lang="zh-TW" altLang="en-US" sz="1200" b="0" i="0" dirty="0">
                <a:latin typeface="Microsoft JhengHei" panose="020B0604030504040204" pitchFamily="34" charset="-120"/>
                <a:ea typeface="Microsoft JhengHei" panose="020B0604030504040204" pitchFamily="34" charset="-120"/>
              </a:rPr>
              <a:t>。第四，</a:t>
            </a:r>
            <a:r>
              <a:rPr lang="en-US" altLang="zh-TW" sz="1200" b="0" i="0" dirty="0">
                <a:latin typeface="Microsoft JhengHei" panose="020B0604030504040204" pitchFamily="34" charset="-120"/>
                <a:ea typeface="Microsoft JhengHei" panose="020B0604030504040204" pitchFamily="34" charset="-120"/>
              </a:rPr>
              <a:t>Testing</a:t>
            </a:r>
            <a:r>
              <a:rPr lang="zh-TW" altLang="en-US" sz="1200" b="0" i="0" dirty="0">
                <a:latin typeface="Microsoft JhengHei" panose="020B0604030504040204" pitchFamily="34" charset="-120"/>
                <a:ea typeface="Microsoft JhengHei" panose="020B0604030504040204" pitchFamily="34" charset="-120"/>
              </a:rPr>
              <a:t>，除了 </a:t>
            </a:r>
            <a:r>
              <a:rPr lang="en-US" altLang="zh-TW" sz="1200" b="0" i="0" dirty="0">
                <a:latin typeface="Microsoft JhengHei" panose="020B0604030504040204" pitchFamily="34" charset="-120"/>
                <a:ea typeface="Microsoft JhengHei" panose="020B0604030504040204" pitchFamily="34" charset="-120"/>
              </a:rPr>
              <a:t>unit tests</a:t>
            </a:r>
            <a:r>
              <a:rPr lang="zh-TW" altLang="en-US" sz="1200" b="0" i="0" dirty="0">
                <a:latin typeface="Microsoft JhengHei" panose="020B0604030504040204" pitchFamily="34" charset="-120"/>
                <a:ea typeface="Microsoft JhengHei" panose="020B0604030504040204" pitchFamily="34" charset="-120"/>
              </a:rPr>
              <a:t>，也有 </a:t>
            </a:r>
            <a:r>
              <a:rPr lang="en-US" altLang="zh-TW" sz="1200" b="0" i="0" dirty="0">
                <a:latin typeface="Microsoft JhengHei" panose="020B0604030504040204" pitchFamily="34" charset="-120"/>
                <a:ea typeface="Microsoft JhengHei" panose="020B0604030504040204" pitchFamily="34" charset="-120"/>
              </a:rPr>
              <a:t>Helm render</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K8s verification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HPA behavior verification</a:t>
            </a:r>
            <a:r>
              <a:rPr lang="zh-TW" altLang="en-US" sz="1200" b="0" i="0" dirty="0">
                <a:latin typeface="Microsoft JhengHei" panose="020B0604030504040204" pitchFamily="34" charset="-120"/>
                <a:ea typeface="Microsoft JhengHei" panose="020B0604030504040204" pitchFamily="34" charset="-120"/>
              </a:rPr>
              <a:t>。第五，</a:t>
            </a:r>
            <a:r>
              <a:rPr lang="en-US" altLang="zh-TW" sz="1200" b="0" i="0" dirty="0">
                <a:latin typeface="Microsoft JhengHei" panose="020B0604030504040204" pitchFamily="34" charset="-120"/>
                <a:ea typeface="Microsoft JhengHei" panose="020B0604030504040204" pitchFamily="34" charset="-120"/>
              </a:rPr>
              <a:t>Operation and Reliability</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Grafana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Prometheus </a:t>
            </a:r>
            <a:r>
              <a:rPr lang="zh-TW" altLang="en-US" sz="1200" b="0" i="0" dirty="0">
                <a:latin typeface="Microsoft JhengHei" panose="020B0604030504040204" pitchFamily="34" charset="-120"/>
                <a:ea typeface="Microsoft JhengHei" panose="020B0604030504040204" pitchFamily="34" charset="-120"/>
              </a:rPr>
              <a:t>可以觀察 </a:t>
            </a:r>
            <a:r>
              <a:rPr lang="en-US" altLang="zh-TW" sz="1200" b="0" i="0" dirty="0">
                <a:latin typeface="Microsoft JhengHei" panose="020B0604030504040204" pitchFamily="34" charset="-120"/>
                <a:ea typeface="Microsoft JhengHei" panose="020B0604030504040204" pitchFamily="34" charset="-120"/>
              </a:rPr>
              <a:t>KEDA/HPA</a:t>
            </a:r>
            <a:r>
              <a:rPr lang="zh-TW" altLang="en-US" sz="1200" b="0" i="0" dirty="0">
                <a:latin typeface="Microsoft JhengHei" panose="020B0604030504040204" pitchFamily="34" charset="-120"/>
                <a:ea typeface="Microsoft JhengHei" panose="020B0604030504040204" pitchFamily="34" charset="-120"/>
              </a:rPr>
              <a:t>，</a:t>
            </a:r>
            <a:r>
              <a:rPr lang="en-US" altLang="zh-TW" sz="1200" b="0" i="0" dirty="0">
                <a:latin typeface="Microsoft JhengHei" panose="020B0604030504040204" pitchFamily="34" charset="-120"/>
                <a:ea typeface="Microsoft JhengHei" panose="020B0604030504040204" pitchFamily="34" charset="-120"/>
              </a:rPr>
              <a:t>Redis lock </a:t>
            </a:r>
            <a:r>
              <a:rPr lang="zh-TW" altLang="en-US" sz="1200" b="0" i="0" dirty="0">
                <a:latin typeface="Microsoft JhengHei" panose="020B0604030504040204" pitchFamily="34" charset="-120"/>
                <a:ea typeface="Microsoft JhengHei" panose="020B0604030504040204" pitchFamily="34" charset="-120"/>
              </a:rPr>
              <a:t>保護排程一致性，</a:t>
            </a:r>
            <a:r>
              <a:rPr lang="en-US" altLang="zh-TW" sz="1200" b="0" i="0" dirty="0">
                <a:latin typeface="Microsoft JhengHei" panose="020B0604030504040204" pitchFamily="34" charset="-120"/>
                <a:ea typeface="Microsoft JhengHei" panose="020B0604030504040204" pitchFamily="34" charset="-120"/>
              </a:rPr>
              <a:t>audit log </a:t>
            </a:r>
            <a:r>
              <a:rPr lang="zh-TW" altLang="en-US" sz="1200" b="0" i="0" dirty="0">
                <a:latin typeface="Microsoft JhengHei" panose="020B0604030504040204" pitchFamily="34" charset="-120"/>
                <a:ea typeface="Microsoft JhengHei" panose="020B0604030504040204" pitchFamily="34" charset="-120"/>
              </a:rPr>
              <a:t>和 </a:t>
            </a:r>
            <a:r>
              <a:rPr lang="en-US" altLang="zh-TW" sz="1200" b="0" i="0" dirty="0">
                <a:latin typeface="Microsoft JhengHei" panose="020B0604030504040204" pitchFamily="34" charset="-120"/>
                <a:ea typeface="Microsoft JhengHei" panose="020B0604030504040204" pitchFamily="34" charset="-120"/>
              </a:rPr>
              <a:t>Helm rollout </a:t>
            </a:r>
            <a:r>
              <a:rPr lang="zh-TW" altLang="en-US" sz="1200" b="0" i="0" dirty="0">
                <a:latin typeface="Microsoft JhengHei" panose="020B0604030504040204" pitchFamily="34" charset="-120"/>
                <a:ea typeface="Microsoft JhengHei" panose="020B0604030504040204" pitchFamily="34" charset="-120"/>
              </a:rPr>
              <a:t>則讓系統可以追蹤和部署。</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i="0" dirty="0">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dirty="0">
                <a:latin typeface="Microsoft JhengHei" panose="020B0604030504040204" pitchFamily="34" charset="-120"/>
                <a:ea typeface="Microsoft JhengHei" panose="020B0604030504040204" pitchFamily="34" charset="-120"/>
              </a:rPr>
              <a:t>所以這一頁的結論是：</a:t>
            </a:r>
            <a:r>
              <a:rPr lang="en-US" altLang="zh-TW" sz="1200" b="0" i="0" dirty="0">
                <a:latin typeface="Microsoft JhengHei" panose="020B0604030504040204" pitchFamily="34" charset="-120"/>
                <a:ea typeface="Microsoft JhengHei" panose="020B0604030504040204" pitchFamily="34" charset="-120"/>
              </a:rPr>
              <a:t>WOMS </a:t>
            </a:r>
            <a:r>
              <a:rPr lang="zh-TW" altLang="en-US" sz="1200" b="0" i="0" dirty="0">
                <a:latin typeface="Microsoft JhengHei" panose="020B0604030504040204" pitchFamily="34" charset="-120"/>
                <a:ea typeface="Microsoft JhengHei" panose="020B0604030504040204" pitchFamily="34" charset="-120"/>
              </a:rPr>
              <a:t>不只是完成 </a:t>
            </a:r>
            <a:r>
              <a:rPr lang="en-US" altLang="zh-TW" sz="1200" b="0" i="0" dirty="0">
                <a:latin typeface="Microsoft JhengHei" panose="020B0604030504040204" pitchFamily="34" charset="-120"/>
                <a:ea typeface="Microsoft JhengHei" panose="020B0604030504040204" pitchFamily="34" charset="-120"/>
              </a:rPr>
              <a:t>wafer order management </a:t>
            </a:r>
            <a:r>
              <a:rPr lang="zh-TW" altLang="en-US" sz="1200" b="0" i="0" dirty="0">
                <a:latin typeface="Microsoft JhengHei" panose="020B0604030504040204" pitchFamily="34" charset="-120"/>
                <a:ea typeface="Microsoft JhengHei" panose="020B0604030504040204" pitchFamily="34" charset="-120"/>
              </a:rPr>
              <a:t>的功能，而是把功能、架構、測試、部署和監控都串成一個可以 </a:t>
            </a:r>
            <a:r>
              <a:rPr lang="en-US" altLang="zh-TW" sz="1200" b="0" i="0" dirty="0">
                <a:latin typeface="Microsoft JhengHei" panose="020B0604030504040204" pitchFamily="34" charset="-120"/>
                <a:ea typeface="Microsoft JhengHei" panose="020B0604030504040204" pitchFamily="34" charset="-120"/>
              </a:rPr>
              <a:t>demo</a:t>
            </a:r>
            <a:r>
              <a:rPr lang="zh-TW" altLang="en-US" sz="1200" b="0" i="0" dirty="0">
                <a:latin typeface="Microsoft JhengHei" panose="020B0604030504040204" pitchFamily="34" charset="-120"/>
                <a:ea typeface="Microsoft JhengHei" panose="020B0604030504040204" pitchFamily="34" charset="-120"/>
              </a:rPr>
              <a:t>、可以驗證，也比較接近真實部署型態的系統。</a:t>
            </a:r>
            <a:endParaRPr sz="1200" b="0" i="0" dirty="0">
              <a:latin typeface="Microsoft JhengHei" panose="020B0604030504040204" pitchFamily="34" charset="-120"/>
              <a:ea typeface="Microsoft JhengHei" panose="020B0604030504040204" pitchFamily="34" charset="-120"/>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7565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1" dirty="0" err="1"/>
              <a:t>最後一頁把專案對回</a:t>
            </a:r>
            <a:r>
              <a:rPr sz="1200" b="0" i="1" dirty="0"/>
              <a:t> requirement.pdf </a:t>
            </a:r>
            <a:r>
              <a:rPr sz="1200" b="0" i="1" dirty="0" err="1"/>
              <a:t>的五個評分面向。第一，需求轉換與實作：WOMS</a:t>
            </a:r>
            <a:r>
              <a:rPr sz="1200" b="0" i="1" dirty="0"/>
              <a:t> </a:t>
            </a:r>
            <a:r>
              <a:rPr sz="1200" b="0" i="1" dirty="0" err="1"/>
              <a:t>已經有訂單新增、修改、取消、查詢、狀態追蹤、排程</a:t>
            </a:r>
            <a:r>
              <a:rPr sz="1200" b="0" i="1" dirty="0"/>
              <a:t> </a:t>
            </a:r>
            <a:r>
              <a:rPr sz="1200" b="0" i="1" dirty="0" err="1"/>
              <a:t>preview、正式排程、生產回報和衝突視覺化。第二，程式碼品質：Go</a:t>
            </a:r>
            <a:r>
              <a:rPr sz="1200" b="0" i="1" dirty="0"/>
              <a:t> package </a:t>
            </a:r>
            <a:r>
              <a:rPr sz="1200" b="0" i="1" dirty="0" err="1"/>
              <a:t>分層清楚，搭配</a:t>
            </a:r>
            <a:r>
              <a:rPr sz="1200" b="0" i="1" dirty="0"/>
              <a:t> </a:t>
            </a:r>
            <a:r>
              <a:rPr sz="1200" b="0" i="1" dirty="0" err="1"/>
              <a:t>gofmt、Go</a:t>
            </a:r>
            <a:r>
              <a:rPr sz="1200" b="0" i="1" dirty="0"/>
              <a:t> </a:t>
            </a:r>
            <a:r>
              <a:rPr sz="1200" b="0" i="1" dirty="0" err="1"/>
              <a:t>tests、web</a:t>
            </a:r>
            <a:r>
              <a:rPr sz="1200" b="0" i="1" dirty="0"/>
              <a:t> tests 和 CI。第三，架構設計與可擴展性：API、worker、PostgreSQL、Kafka、Redis、Helm、Kubernetes 和 KEDA </a:t>
            </a:r>
            <a:r>
              <a:rPr sz="1200" b="0" i="1" dirty="0" err="1"/>
              <a:t>的責任切分支撐未來擴充。第四，系統測試與驗證：除了</a:t>
            </a:r>
            <a:r>
              <a:rPr sz="1200" b="0" i="1" dirty="0"/>
              <a:t> unit </a:t>
            </a:r>
            <a:r>
              <a:rPr sz="1200" b="0" i="1" dirty="0" err="1"/>
              <a:t>tests，也有</a:t>
            </a:r>
            <a:r>
              <a:rPr sz="1200" b="0" i="1" dirty="0"/>
              <a:t> Helm render、K8s </a:t>
            </a:r>
            <a:r>
              <a:rPr sz="1200" b="0" i="1" dirty="0" err="1"/>
              <a:t>verification、HPA</a:t>
            </a:r>
            <a:r>
              <a:rPr sz="1200" b="0" i="1" dirty="0"/>
              <a:t> behavior 和 Grafana </a:t>
            </a:r>
            <a:r>
              <a:rPr sz="1200" b="0" i="1" dirty="0" err="1"/>
              <a:t>檢查。第五，運維與可靠性：JWT</a:t>
            </a:r>
            <a:r>
              <a:rPr sz="1200" b="0" i="1" dirty="0"/>
              <a:t>/</a:t>
            </a:r>
            <a:r>
              <a:rPr sz="1200" b="0" i="1" dirty="0" err="1"/>
              <a:t>RBAC、Redis</a:t>
            </a:r>
            <a:r>
              <a:rPr sz="1200" b="0" i="1" dirty="0"/>
              <a:t> </a:t>
            </a:r>
            <a:r>
              <a:rPr sz="1200" b="0" i="1" dirty="0" err="1"/>
              <a:t>lock、audit</a:t>
            </a:r>
            <a:r>
              <a:rPr sz="1200" b="0" i="1" dirty="0"/>
              <a:t> </a:t>
            </a:r>
            <a:r>
              <a:rPr sz="1200" b="0" i="1" dirty="0" err="1"/>
              <a:t>log、監控、Docker</a:t>
            </a:r>
            <a:r>
              <a:rPr sz="1200" b="0" i="1" dirty="0"/>
              <a:t> Hub release 和 Helm rollout </a:t>
            </a:r>
            <a:r>
              <a:rPr sz="1200" b="0" i="1" dirty="0" err="1"/>
              <a:t>讓系統不只是能</a:t>
            </a:r>
            <a:r>
              <a:rPr sz="1200" b="0" i="1" dirty="0"/>
              <a:t> </a:t>
            </a:r>
            <a:r>
              <a:rPr sz="1200" b="0" i="1" dirty="0" err="1"/>
              <a:t>demo，也有可部署、可追蹤、可驗證的運維路徑</a:t>
            </a:r>
            <a:r>
              <a:rPr sz="1200" b="0" i="1"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1.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woms.c1ydeh.net/"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44082C15-63F2-4DDE-8377-DE94AA1275CC}"/>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nchor="ctr"/>
          <a:lstStyle/>
          <a:p>
            <a:endParaRPr/>
          </a:p>
        </p:txBody>
      </p:sp>
      <p:sp>
        <p:nvSpPr>
          <p:cNvPr id="2" name="矩形 1">
            <a:extLst>
              <a:ext uri="{FF2B5EF4-FFF2-40B4-BE49-F238E27FC236}">
                <a16:creationId xmlns:a16="http://schemas.microsoft.com/office/drawing/2014/main" id="{F291C6CD-73D0-4DBC-9221-385659945675}"/>
              </a:ext>
            </a:extLst>
          </p:cNvPr>
          <p:cNvSpPr>
            <a:spLocks noGrp="1"/>
          </p:cNvSpPr>
          <p:nvPr/>
        </p:nvSpPr>
        <p:spPr>
          <a:xfrm>
            <a:off x="0" y="3051347"/>
            <a:ext cx="12192000" cy="723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4650" b="1">
                <a:solidFill>
                  <a:srgbClr val="172033"/>
                </a:solidFill>
                <a:latin typeface="Times New Roman"/>
                <a:ea typeface="Times New Roman"/>
                <a:cs typeface="Times New Roman"/>
              </a:defRPr>
            </a:pPr>
            <a:r>
              <a:rPr sz="5400" b="1" dirty="0">
                <a:solidFill>
                  <a:srgbClr val="172033"/>
                </a:solidFill>
                <a:latin typeface="Calibri"/>
                <a:ea typeface="Calibri"/>
                <a:cs typeface="Calibri"/>
              </a:rPr>
              <a:t>WOMS</a:t>
            </a:r>
          </a:p>
        </p:txBody>
      </p:sp>
      <p:sp>
        <p:nvSpPr>
          <p:cNvPr id="3" name="矩形 2">
            <a:extLst>
              <a:ext uri="{FF2B5EF4-FFF2-40B4-BE49-F238E27FC236}">
                <a16:creationId xmlns:a16="http://schemas.microsoft.com/office/drawing/2014/main" id="{2B217853-5DC0-4AFB-98A6-E2D8D0542F95}"/>
              </a:ext>
            </a:extLst>
          </p:cNvPr>
          <p:cNvSpPr>
            <a:spLocks noGrp="1"/>
          </p:cNvSpPr>
          <p:nvPr/>
        </p:nvSpPr>
        <p:spPr>
          <a:xfrm>
            <a:off x="0" y="3775247"/>
            <a:ext cx="12192000" cy="339923"/>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0">
                <a:solidFill>
                  <a:srgbClr val="172033"/>
                </a:solidFill>
                <a:latin typeface="Times New Roman"/>
                <a:ea typeface="Times New Roman"/>
                <a:cs typeface="Times New Roman"/>
              </a:defRPr>
            </a:pPr>
            <a:r>
              <a:rPr sz="2400" dirty="0">
                <a:solidFill>
                  <a:srgbClr val="172033"/>
                </a:solidFill>
                <a:latin typeface="Calibri"/>
                <a:ea typeface="Calibri"/>
                <a:cs typeface="Calibri"/>
              </a:rPr>
              <a:t>Cloud-Native Wafer Order Management And Scheduling System</a:t>
            </a:r>
          </a:p>
        </p:txBody>
      </p:sp>
      <p:sp>
        <p:nvSpPr>
          <p:cNvPr id="4" name="矩形 27">
            <a:extLst>
              <a:ext uri="{FF2B5EF4-FFF2-40B4-BE49-F238E27FC236}">
                <a16:creationId xmlns:a16="http://schemas.microsoft.com/office/drawing/2014/main" id="{438F1091-AEDF-4F03-8967-28D431C1EA5C}"/>
              </a:ext>
            </a:extLst>
          </p:cNvPr>
          <p:cNvSpPr>
            <a:spLocks noGrp="1"/>
          </p:cNvSpPr>
          <p:nvPr/>
        </p:nvSpPr>
        <p:spPr>
          <a:xfrm>
            <a:off x="0" y="6456292"/>
            <a:ext cx="12192000" cy="339923"/>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0">
                <a:solidFill>
                  <a:srgbClr val="172033"/>
                </a:solidFill>
                <a:latin typeface="Times New Roman"/>
                <a:ea typeface="Times New Roman"/>
                <a:cs typeface="Times New Roman"/>
              </a:defRPr>
            </a:pPr>
            <a:r>
              <a:rPr sz="2100">
                <a:solidFill>
                  <a:srgbClr val="172033"/>
                </a:solidFill>
                <a:latin typeface="Calibri"/>
                <a:ea typeface="Calibri"/>
                <a:cs typeface="Calibri"/>
              </a:rPr>
              <a:t>Group 17: 314581047 謝孟翰  314552017 陳佑丞  314551070 詹凱旭  314581047 陳冠霖</a:t>
            </a:r>
          </a:p>
        </p:txBody>
      </p:sp>
    </p:spTree>
    <p:extLst>
      <p:ext uri="{BB962C8B-B14F-4D97-AF65-F5344CB8AC3E}">
        <p14:creationId xmlns:p14="http://schemas.microsoft.com/office/powerpoint/2010/main" val="1124248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C2162C21-D28D-48D3-B322-A3BBC52AD09F}"/>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B9504CE4-B7D7-4ED2-B1F2-F54C5D9703A1}"/>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User Scenario: Admin / Sales / Scheduler</a:t>
            </a:r>
          </a:p>
        </p:txBody>
      </p:sp>
      <p:sp>
        <p:nvSpPr>
          <p:cNvPr id="4" name="矩形 3">
            <a:extLst>
              <a:ext uri="{FF2B5EF4-FFF2-40B4-BE49-F238E27FC236}">
                <a16:creationId xmlns:a16="http://schemas.microsoft.com/office/drawing/2014/main" id="{92D60362-774D-428D-95F7-5C47BB17897A}"/>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E6AD083C-74BE-4963-98A3-EFEB577406E1}"/>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a:solidFill>
                  <a:srgbClr val="5C6678"/>
                </a:solidFill>
                <a:latin typeface="Arial"/>
                <a:ea typeface="Arial"/>
                <a:cs typeface="Arial"/>
              </a:rPr>
              <a:t>2</a:t>
            </a:r>
          </a:p>
        </p:txBody>
      </p:sp>
      <p:pic>
        <p:nvPicPr>
          <p:cNvPr id="17" name="圖片 14"/>
          <p:cNvPicPr>
            <a:picLocks noChangeAspect="1"/>
          </p:cNvPicPr>
          <p:nvPr/>
        </p:nvPicPr>
        <p:blipFill>
          <a:blip r:embed="rId3"/>
          <a:srcRect/>
          <a:stretch/>
        </p:blipFill>
        <p:spPr>
          <a:xfrm>
            <a:off x="4988181" y="1342855"/>
            <a:ext cx="1800000" cy="1800000"/>
          </a:xfrm>
          <a:prstGeom prst="rect">
            <a:avLst/>
          </a:prstGeom>
        </p:spPr>
      </p:pic>
      <p:pic>
        <p:nvPicPr>
          <p:cNvPr id="18" name="圖片 19"/>
          <p:cNvPicPr>
            <a:picLocks noChangeAspect="1"/>
          </p:cNvPicPr>
          <p:nvPr/>
        </p:nvPicPr>
        <p:blipFill>
          <a:blip r:embed="rId4"/>
          <a:srcRect/>
          <a:stretch/>
        </p:blipFill>
        <p:spPr>
          <a:xfrm>
            <a:off x="533400" y="4570290"/>
            <a:ext cx="1784210" cy="1800000"/>
          </a:xfrm>
          <a:prstGeom prst="rect">
            <a:avLst/>
          </a:prstGeom>
        </p:spPr>
      </p:pic>
      <p:pic>
        <p:nvPicPr>
          <p:cNvPr id="19" name="圖片 36"/>
          <p:cNvPicPr>
            <a:picLocks noChangeAspect="1"/>
          </p:cNvPicPr>
          <p:nvPr/>
        </p:nvPicPr>
        <p:blipFill>
          <a:blip r:embed="rId5"/>
          <a:srcRect/>
          <a:stretch/>
        </p:blipFill>
        <p:spPr>
          <a:xfrm>
            <a:off x="9115072" y="4570290"/>
            <a:ext cx="1800000" cy="1800000"/>
          </a:xfrm>
          <a:prstGeom prst="rect">
            <a:avLst/>
          </a:prstGeom>
        </p:spPr>
      </p:pic>
      <p:cxnSp>
        <p:nvCxnSpPr>
          <p:cNvPr id="20" name="直線箭頭接點 64"/>
          <p:cNvCxnSpPr/>
          <p:nvPr/>
        </p:nvCxnSpPr>
        <p:spPr>
          <a:xfrm>
            <a:off x="2382981" y="5470290"/>
            <a:ext cx="6881091" cy="0"/>
          </a:xfrm>
          <a:prstGeom prst="straightConnector1">
            <a:avLst/>
          </a:prstGeom>
          <a:ln w="63500">
            <a:headEnd type="arrow"/>
            <a:tailEnd type="triangle"/>
          </a:ln>
        </p:spPr>
        <p:style>
          <a:lnRef idx="1">
            <a:schemeClr val="dk1"/>
          </a:lnRef>
          <a:fillRef idx="0">
            <a:schemeClr val="dk1"/>
          </a:fillRef>
          <a:effectRef idx="0">
            <a:schemeClr val="dk1"/>
          </a:effectRef>
          <a:fontRef idx="minor">
            <a:schemeClr val="tx1"/>
          </a:fontRef>
        </p:style>
      </p:cxnSp>
      <p:cxnSp>
        <p:nvCxnSpPr>
          <p:cNvPr id="21" name="直線箭頭接點 68"/>
          <p:cNvCxnSpPr>
            <a:endCxn id="15" idx="1"/>
          </p:cNvCxnSpPr>
          <p:nvPr/>
        </p:nvCxnSpPr>
        <p:spPr>
          <a:xfrm flipV="1">
            <a:off x="1679713" y="2242855"/>
            <a:ext cx="3308468" cy="2123445"/>
          </a:xfrm>
          <a:prstGeom prst="straightConnector1">
            <a:avLst/>
          </a:prstGeom>
          <a:ln w="63500">
            <a:headEnd type="arrow"/>
            <a:tailEnd type="triangle"/>
          </a:ln>
        </p:spPr>
        <p:style>
          <a:lnRef idx="1">
            <a:schemeClr val="dk1"/>
          </a:lnRef>
          <a:fillRef idx="0">
            <a:schemeClr val="dk1"/>
          </a:fillRef>
          <a:effectRef idx="0">
            <a:schemeClr val="dk1"/>
          </a:effectRef>
          <a:fontRef idx="minor">
            <a:schemeClr val="tx1"/>
          </a:fontRef>
        </p:style>
      </p:cxnSp>
      <p:cxnSp>
        <p:nvCxnSpPr>
          <p:cNvPr id="22" name="直線箭頭接點 73"/>
          <p:cNvCxnSpPr>
            <a:endCxn id="15" idx="3"/>
          </p:cNvCxnSpPr>
          <p:nvPr/>
        </p:nvCxnSpPr>
        <p:spPr>
          <a:xfrm flipH="1" flipV="1">
            <a:off x="6788181" y="2242855"/>
            <a:ext cx="3103964" cy="2223338"/>
          </a:xfrm>
          <a:prstGeom prst="straightConnector1">
            <a:avLst/>
          </a:prstGeom>
          <a:ln w="63500">
            <a:headEnd type="arrow"/>
            <a:tailEnd type="triangle"/>
          </a:ln>
        </p:spPr>
        <p:style>
          <a:lnRef idx="1">
            <a:schemeClr val="dk1"/>
          </a:lnRef>
          <a:fillRef idx="0">
            <a:schemeClr val="dk1"/>
          </a:fillRef>
          <a:effectRef idx="0">
            <a:schemeClr val="dk1"/>
          </a:effectRef>
          <a:fontRef idx="minor">
            <a:schemeClr val="tx1"/>
          </a:fontRef>
        </p:style>
      </p:cxnSp>
      <p:sp>
        <p:nvSpPr>
          <p:cNvPr id="86" name="矩形 85">
            <a:extLst>
              <a:ext uri="{FF2B5EF4-FFF2-40B4-BE49-F238E27FC236}">
                <a16:creationId xmlns:a16="http://schemas.microsoft.com/office/drawing/2014/main" id="{CF151E6A-8693-9219-7548-F1904663B2BE}"/>
              </a:ext>
            </a:extLst>
          </p:cNvPr>
          <p:cNvSpPr>
            <a:spLocks noGrp="1"/>
          </p:cNvSpPr>
          <p:nvPr/>
        </p:nvSpPr>
        <p:spPr>
          <a:xfrm>
            <a:off x="807503" y="6339673"/>
            <a:ext cx="1510107"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2400">
                <a:solidFill>
                  <a:srgbClr val="172033"/>
                </a:solidFill>
                <a:latin typeface="Calibri"/>
                <a:ea typeface="Calibri"/>
                <a:cs typeface="Calibri"/>
              </a:rPr>
              <a:t>Sales / PM</a:t>
            </a:r>
          </a:p>
        </p:txBody>
      </p:sp>
      <p:sp>
        <p:nvSpPr>
          <p:cNvPr id="88" name="矩形 87">
            <a:extLst>
              <a:ext uri="{FF2B5EF4-FFF2-40B4-BE49-F238E27FC236}">
                <a16:creationId xmlns:a16="http://schemas.microsoft.com/office/drawing/2014/main" id="{9FE0308E-7922-CC5D-6AEE-3F5D819A1FC0}"/>
              </a:ext>
            </a:extLst>
          </p:cNvPr>
          <p:cNvSpPr>
            <a:spLocks noGrp="1"/>
          </p:cNvSpPr>
          <p:nvPr/>
        </p:nvSpPr>
        <p:spPr>
          <a:xfrm>
            <a:off x="9018657" y="6323398"/>
            <a:ext cx="2187528"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2400">
                <a:solidFill>
                  <a:srgbClr val="172033"/>
                </a:solidFill>
                <a:latin typeface="Calibri"/>
                <a:ea typeface="Calibri"/>
                <a:cs typeface="Calibri"/>
              </a:rPr>
              <a:t>Scheduler / FAE</a:t>
            </a:r>
          </a:p>
        </p:txBody>
      </p:sp>
      <p:sp>
        <p:nvSpPr>
          <p:cNvPr id="89" name="矩形 88">
            <a:extLst>
              <a:ext uri="{FF2B5EF4-FFF2-40B4-BE49-F238E27FC236}">
                <a16:creationId xmlns:a16="http://schemas.microsoft.com/office/drawing/2014/main" id="{FB0425B9-E37E-C678-F5C9-B549C5E96D67}"/>
              </a:ext>
            </a:extLst>
          </p:cNvPr>
          <p:cNvSpPr>
            <a:spLocks noGrp="1"/>
          </p:cNvSpPr>
          <p:nvPr/>
        </p:nvSpPr>
        <p:spPr>
          <a:xfrm>
            <a:off x="4705019" y="3151862"/>
            <a:ext cx="2182922"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2400">
                <a:solidFill>
                  <a:srgbClr val="172033"/>
                </a:solidFill>
                <a:latin typeface="Calibri"/>
                <a:ea typeface="Calibri"/>
                <a:cs typeface="Calibri"/>
              </a:rPr>
              <a:t>Admin / DevOps</a:t>
            </a:r>
          </a:p>
        </p:txBody>
      </p:sp>
    </p:spTree>
    <p:extLst>
      <p:ext uri="{BB962C8B-B14F-4D97-AF65-F5344CB8AC3E}">
        <p14:creationId xmlns:p14="http://schemas.microsoft.com/office/powerpoint/2010/main" val="742506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8595812-03F1-4A2A-7928-F25121B9FF47}"/>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9566D311-D2F4-3B55-3E2E-6C6F63E555AB}"/>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User Scenario: Sales / Scheduler</a:t>
            </a:r>
          </a:p>
        </p:txBody>
      </p:sp>
      <p:sp>
        <p:nvSpPr>
          <p:cNvPr id="4" name="矩形 3">
            <a:extLst>
              <a:ext uri="{FF2B5EF4-FFF2-40B4-BE49-F238E27FC236}">
                <a16:creationId xmlns:a16="http://schemas.microsoft.com/office/drawing/2014/main" id="{EF52B419-0CE7-25F5-6FA0-A2FA4EEE67E3}"/>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A8BFB298-5CCB-4FDF-B144-CB732A6901A5}"/>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3</a:t>
            </a:r>
          </a:p>
        </p:txBody>
      </p:sp>
      <p:pic>
        <p:nvPicPr>
          <p:cNvPr id="17" name="圖片 14"/>
          <p:cNvPicPr>
            <a:picLocks noChangeAspect="1"/>
          </p:cNvPicPr>
          <p:nvPr/>
        </p:nvPicPr>
        <p:blipFill>
          <a:blip r:embed="rId3"/>
          <a:stretch>
            <a:fillRect/>
          </a:stretch>
        </p:blipFill>
        <p:spPr>
          <a:xfrm>
            <a:off x="6510843" y="1668849"/>
            <a:ext cx="1440000" cy="1440000"/>
          </a:xfrm>
          <a:prstGeom prst="rect">
            <a:avLst/>
          </a:prstGeom>
        </p:spPr>
      </p:pic>
      <p:pic>
        <p:nvPicPr>
          <p:cNvPr id="18" name="圖片 19"/>
          <p:cNvPicPr>
            <a:picLocks noChangeAspect="1"/>
          </p:cNvPicPr>
          <p:nvPr/>
        </p:nvPicPr>
        <p:blipFill>
          <a:blip r:embed="rId4"/>
          <a:stretch>
            <a:fillRect/>
          </a:stretch>
        </p:blipFill>
        <p:spPr>
          <a:xfrm>
            <a:off x="561782" y="1668849"/>
            <a:ext cx="1440000" cy="1440000"/>
          </a:xfrm>
          <a:prstGeom prst="rect">
            <a:avLst/>
          </a:prstGeom>
        </p:spPr>
      </p:pic>
      <p:pic>
        <p:nvPicPr>
          <p:cNvPr id="19" name="圖片 36"/>
          <p:cNvPicPr>
            <a:picLocks noChangeAspect="1"/>
          </p:cNvPicPr>
          <p:nvPr/>
        </p:nvPicPr>
        <p:blipFill>
          <a:blip r:embed="rId5"/>
          <a:stretch>
            <a:fillRect/>
          </a:stretch>
        </p:blipFill>
        <p:spPr>
          <a:xfrm>
            <a:off x="3398657" y="1668849"/>
            <a:ext cx="1440000" cy="1440000"/>
          </a:xfrm>
          <a:prstGeom prst="rect">
            <a:avLst/>
          </a:prstGeom>
        </p:spPr>
      </p:pic>
      <p:cxnSp>
        <p:nvCxnSpPr>
          <p:cNvPr id="20" name="直線箭頭接點 48"/>
          <p:cNvCxnSpPr>
            <a:stCxn id="20" idx="3"/>
            <a:endCxn id="37" idx="1"/>
          </p:cNvCxnSpPr>
          <p:nvPr/>
        </p:nvCxnSpPr>
        <p:spPr>
          <a:xfrm>
            <a:off x="2001782" y="2388849"/>
            <a:ext cx="1396875"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直線箭頭接點 50"/>
          <p:cNvCxnSpPr/>
          <p:nvPr/>
        </p:nvCxnSpPr>
        <p:spPr>
          <a:xfrm>
            <a:off x="4919142" y="2388849"/>
            <a:ext cx="14400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2" name="直線箭頭接點 58"/>
          <p:cNvCxnSpPr/>
          <p:nvPr/>
        </p:nvCxnSpPr>
        <p:spPr>
          <a:xfrm>
            <a:off x="8054109" y="2388849"/>
            <a:ext cx="146293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3" name="圖片 63"/>
          <p:cNvPicPr>
            <a:picLocks noChangeAspect="1"/>
          </p:cNvPicPr>
          <p:nvPr/>
        </p:nvPicPr>
        <p:blipFill>
          <a:blip r:embed="rId6"/>
          <a:srcRect/>
          <a:stretch/>
        </p:blipFill>
        <p:spPr>
          <a:xfrm>
            <a:off x="9670003" y="1668849"/>
            <a:ext cx="1440000" cy="1440000"/>
          </a:xfrm>
          <a:prstGeom prst="rect">
            <a:avLst/>
          </a:prstGeom>
        </p:spPr>
      </p:pic>
      <p:pic>
        <p:nvPicPr>
          <p:cNvPr id="24" name="圖片 5"/>
          <p:cNvPicPr>
            <a:picLocks noChangeAspect="1"/>
          </p:cNvPicPr>
          <p:nvPr/>
        </p:nvPicPr>
        <p:blipFill>
          <a:blip r:embed="rId7"/>
          <a:srcRect/>
          <a:stretch/>
        </p:blipFill>
        <p:spPr>
          <a:xfrm>
            <a:off x="6461148" y="4323039"/>
            <a:ext cx="1440000" cy="1440000"/>
          </a:xfrm>
          <a:prstGeom prst="rect">
            <a:avLst/>
          </a:prstGeom>
        </p:spPr>
      </p:pic>
      <p:cxnSp>
        <p:nvCxnSpPr>
          <p:cNvPr id="25" name="直線箭頭接點 6"/>
          <p:cNvCxnSpPr/>
          <p:nvPr/>
        </p:nvCxnSpPr>
        <p:spPr>
          <a:xfrm>
            <a:off x="2001782" y="5033100"/>
            <a:ext cx="142124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6" name="直線箭頭接點 7"/>
          <p:cNvCxnSpPr/>
          <p:nvPr/>
        </p:nvCxnSpPr>
        <p:spPr>
          <a:xfrm>
            <a:off x="4939020" y="5043039"/>
            <a:ext cx="14400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直線箭頭接點 8"/>
          <p:cNvCxnSpPr/>
          <p:nvPr/>
        </p:nvCxnSpPr>
        <p:spPr>
          <a:xfrm>
            <a:off x="7994475" y="5033100"/>
            <a:ext cx="146293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8" name="圖片 10"/>
          <p:cNvPicPr>
            <a:picLocks noChangeAspect="1"/>
          </p:cNvPicPr>
          <p:nvPr/>
        </p:nvPicPr>
        <p:blipFill>
          <a:blip r:embed="rId8"/>
          <a:srcRect/>
          <a:stretch/>
        </p:blipFill>
        <p:spPr>
          <a:xfrm>
            <a:off x="3453657" y="4313100"/>
            <a:ext cx="1440000" cy="1440000"/>
          </a:xfrm>
          <a:prstGeom prst="rect">
            <a:avLst/>
          </a:prstGeom>
        </p:spPr>
      </p:pic>
      <p:pic>
        <p:nvPicPr>
          <p:cNvPr id="29" name="圖片 11"/>
          <p:cNvPicPr>
            <a:picLocks noChangeAspect="1"/>
          </p:cNvPicPr>
          <p:nvPr/>
        </p:nvPicPr>
        <p:blipFill>
          <a:blip r:embed="rId9"/>
          <a:stretch>
            <a:fillRect/>
          </a:stretch>
        </p:blipFill>
        <p:spPr>
          <a:xfrm>
            <a:off x="9610369" y="4313100"/>
            <a:ext cx="1440000" cy="1440000"/>
          </a:xfrm>
          <a:prstGeom prst="rect">
            <a:avLst/>
          </a:prstGeom>
        </p:spPr>
      </p:pic>
      <p:pic>
        <p:nvPicPr>
          <p:cNvPr id="30" name="圖片 13"/>
          <p:cNvPicPr>
            <a:picLocks noChangeAspect="1"/>
          </p:cNvPicPr>
          <p:nvPr/>
        </p:nvPicPr>
        <p:blipFill>
          <a:blip r:embed="rId10"/>
          <a:srcRect/>
          <a:stretch/>
        </p:blipFill>
        <p:spPr>
          <a:xfrm>
            <a:off x="475132" y="4313100"/>
            <a:ext cx="1427368" cy="1440000"/>
          </a:xfrm>
          <a:prstGeom prst="rect">
            <a:avLst/>
          </a:prstGeom>
        </p:spPr>
      </p:pic>
      <p:pic>
        <p:nvPicPr>
          <p:cNvPr id="31" name="圖片 15"/>
          <p:cNvPicPr>
            <a:picLocks noChangeAspect="1"/>
          </p:cNvPicPr>
          <p:nvPr/>
        </p:nvPicPr>
        <p:blipFill>
          <a:blip r:embed="rId6"/>
          <a:srcRect/>
          <a:stretch/>
        </p:blipFill>
        <p:spPr>
          <a:xfrm>
            <a:off x="2453751" y="4431054"/>
            <a:ext cx="566843" cy="566843"/>
          </a:xfrm>
          <a:prstGeom prst="rect">
            <a:avLst/>
          </a:prstGeom>
        </p:spPr>
      </p:pic>
      <p:pic>
        <p:nvPicPr>
          <p:cNvPr id="32" name="圖片 16"/>
          <p:cNvPicPr>
            <a:picLocks noChangeAspect="1"/>
          </p:cNvPicPr>
          <p:nvPr/>
        </p:nvPicPr>
        <p:blipFill>
          <a:blip r:embed="rId11"/>
          <a:srcRect/>
          <a:stretch/>
        </p:blipFill>
        <p:spPr>
          <a:xfrm>
            <a:off x="5403115" y="4515905"/>
            <a:ext cx="472053" cy="472053"/>
          </a:xfrm>
          <a:prstGeom prst="rect">
            <a:avLst/>
          </a:prstGeom>
        </p:spPr>
      </p:pic>
      <p:sp>
        <p:nvSpPr>
          <p:cNvPr id="3" name="矩形 22">
            <a:extLst>
              <a:ext uri="{FF2B5EF4-FFF2-40B4-BE49-F238E27FC236}">
                <a16:creationId xmlns:a16="http://schemas.microsoft.com/office/drawing/2014/main" id="{0CD592D9-D9CF-77E4-9205-215843BF5DBA}"/>
              </a:ext>
            </a:extLst>
          </p:cNvPr>
          <p:cNvSpPr>
            <a:spLocks noGrp="1"/>
          </p:cNvSpPr>
          <p:nvPr/>
        </p:nvSpPr>
        <p:spPr>
          <a:xfrm>
            <a:off x="561783" y="6200775"/>
            <a:ext cx="10488586"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400" b="1">
                <a:solidFill>
                  <a:srgbClr val="FF0000"/>
                </a:solidFill>
                <a:latin typeface="Calibri"/>
                <a:ea typeface="Calibri"/>
                <a:cs typeface="Calibri"/>
              </a:rPr>
              <a:t>Problem: What if a rush order needs to be inserted? If orders are not feasible?</a:t>
            </a:r>
          </a:p>
        </p:txBody>
      </p:sp>
      <p:pic>
        <p:nvPicPr>
          <p:cNvPr id="34" name="圖片 23"/>
          <p:cNvPicPr>
            <a:picLocks noChangeAspect="1"/>
          </p:cNvPicPr>
          <p:nvPr/>
        </p:nvPicPr>
        <p:blipFill>
          <a:blip r:embed="rId6"/>
          <a:srcRect/>
          <a:stretch/>
        </p:blipFill>
        <p:spPr>
          <a:xfrm>
            <a:off x="2460037" y="1805014"/>
            <a:ext cx="566843" cy="566843"/>
          </a:xfrm>
          <a:prstGeom prst="rect">
            <a:avLst/>
          </a:prstGeom>
        </p:spPr>
      </p:pic>
      <p:pic>
        <p:nvPicPr>
          <p:cNvPr id="35" name="圖片 24"/>
          <p:cNvPicPr>
            <a:picLocks noChangeAspect="1"/>
          </p:cNvPicPr>
          <p:nvPr/>
        </p:nvPicPr>
        <p:blipFill>
          <a:blip r:embed="rId11"/>
          <a:srcRect/>
          <a:stretch/>
        </p:blipFill>
        <p:spPr>
          <a:xfrm>
            <a:off x="5394742" y="1852408"/>
            <a:ext cx="472053" cy="472053"/>
          </a:xfrm>
          <a:prstGeom prst="rect">
            <a:avLst/>
          </a:prstGeom>
        </p:spPr>
      </p:pic>
    </p:spTree>
    <p:extLst>
      <p:ext uri="{BB962C8B-B14F-4D97-AF65-F5344CB8AC3E}">
        <p14:creationId xmlns:p14="http://schemas.microsoft.com/office/powerpoint/2010/main" val="863797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028197C-1E30-FCB1-4459-DDD3399406FE}"/>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B01996A7-DDED-0772-3A61-4D0A86C08AE2}"/>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User Scenario: Sales / Scheduler</a:t>
            </a:r>
          </a:p>
        </p:txBody>
      </p:sp>
      <p:sp>
        <p:nvSpPr>
          <p:cNvPr id="4" name="矩形 3">
            <a:extLst>
              <a:ext uri="{FF2B5EF4-FFF2-40B4-BE49-F238E27FC236}">
                <a16:creationId xmlns:a16="http://schemas.microsoft.com/office/drawing/2014/main" id="{4E3F8803-A23A-72FB-AFE9-F43F90F88D37}"/>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5FF888ED-CD83-0442-2AEB-6A30D5573AD2}"/>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4</a:t>
            </a:r>
            <a:endParaRPr sz="900" b="0" dirty="0">
              <a:solidFill>
                <a:srgbClr val="5C6678"/>
              </a:solidFill>
              <a:latin typeface="Arial"/>
              <a:ea typeface="Arial"/>
              <a:cs typeface="Arial"/>
            </a:endParaRPr>
          </a:p>
        </p:txBody>
      </p:sp>
      <p:pic>
        <p:nvPicPr>
          <p:cNvPr id="17" name="圖片 5"/>
          <p:cNvPicPr>
            <a:picLocks noChangeAspect="1"/>
          </p:cNvPicPr>
          <p:nvPr/>
        </p:nvPicPr>
        <p:blipFill>
          <a:blip r:embed="rId3"/>
          <a:srcRect/>
          <a:stretch/>
        </p:blipFill>
        <p:spPr>
          <a:xfrm>
            <a:off x="6500717" y="1353202"/>
            <a:ext cx="1440000" cy="1440000"/>
          </a:xfrm>
          <a:prstGeom prst="rect">
            <a:avLst/>
          </a:prstGeom>
        </p:spPr>
      </p:pic>
      <p:cxnSp>
        <p:nvCxnSpPr>
          <p:cNvPr id="18" name="直線箭頭接點 6"/>
          <p:cNvCxnSpPr/>
          <p:nvPr/>
        </p:nvCxnSpPr>
        <p:spPr>
          <a:xfrm>
            <a:off x="1740819" y="4251333"/>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9" name="圖片 10"/>
          <p:cNvPicPr>
            <a:picLocks noChangeAspect="1"/>
          </p:cNvPicPr>
          <p:nvPr/>
        </p:nvPicPr>
        <p:blipFill>
          <a:blip r:embed="rId4"/>
          <a:srcRect/>
          <a:stretch/>
        </p:blipFill>
        <p:spPr>
          <a:xfrm>
            <a:off x="601185" y="3671783"/>
            <a:ext cx="1080000" cy="1080000"/>
          </a:xfrm>
          <a:prstGeom prst="rect">
            <a:avLst/>
          </a:prstGeom>
        </p:spPr>
      </p:pic>
      <p:pic>
        <p:nvPicPr>
          <p:cNvPr id="20" name="圖片 13"/>
          <p:cNvPicPr>
            <a:picLocks noChangeAspect="1"/>
          </p:cNvPicPr>
          <p:nvPr/>
        </p:nvPicPr>
        <p:blipFill>
          <a:blip r:embed="rId5"/>
          <a:srcRect/>
          <a:stretch/>
        </p:blipFill>
        <p:spPr>
          <a:xfrm>
            <a:off x="2212703" y="1353202"/>
            <a:ext cx="1427368" cy="1440000"/>
          </a:xfrm>
          <a:prstGeom prst="rect">
            <a:avLst/>
          </a:prstGeom>
        </p:spPr>
      </p:pic>
      <p:pic>
        <p:nvPicPr>
          <p:cNvPr id="21" name="圖片 16"/>
          <p:cNvPicPr>
            <a:picLocks noChangeAspect="1"/>
          </p:cNvPicPr>
          <p:nvPr/>
        </p:nvPicPr>
        <p:blipFill>
          <a:blip r:embed="rId6"/>
          <a:srcRect/>
          <a:stretch/>
        </p:blipFill>
        <p:spPr>
          <a:xfrm>
            <a:off x="3727202" y="3656982"/>
            <a:ext cx="292767" cy="292767"/>
          </a:xfrm>
          <a:prstGeom prst="rect">
            <a:avLst/>
          </a:prstGeom>
        </p:spPr>
      </p:pic>
      <p:sp>
        <p:nvSpPr>
          <p:cNvPr id="23" name="矩形 22">
            <a:extLst>
              <a:ext uri="{FF2B5EF4-FFF2-40B4-BE49-F238E27FC236}">
                <a16:creationId xmlns:a16="http://schemas.microsoft.com/office/drawing/2014/main" id="{311414E0-872A-888C-4C09-DE22E55E0232}"/>
              </a:ext>
            </a:extLst>
          </p:cNvPr>
          <p:cNvSpPr>
            <a:spLocks noGrp="1"/>
          </p:cNvSpPr>
          <p:nvPr/>
        </p:nvSpPr>
        <p:spPr>
          <a:xfrm>
            <a:off x="561782" y="6200775"/>
            <a:ext cx="103632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b="1">
                <a:latin typeface="Calibri"/>
                <a:ea typeface="Calibri"/>
                <a:cs typeface="Calibri"/>
              </a:rPr>
              <a:t>Solution: WOMS lets Sales check feasibility first, then lets Scheduler validate and schedule wafer.</a:t>
            </a:r>
          </a:p>
        </p:txBody>
      </p:sp>
      <p:pic>
        <p:nvPicPr>
          <p:cNvPr id="24" name="圖片 18"/>
          <p:cNvPicPr>
            <a:picLocks noChangeAspect="1"/>
          </p:cNvPicPr>
          <p:nvPr/>
        </p:nvPicPr>
        <p:blipFill>
          <a:blip r:embed="rId7"/>
          <a:srcRect/>
          <a:stretch/>
        </p:blipFill>
        <p:spPr>
          <a:xfrm>
            <a:off x="2359842" y="3671783"/>
            <a:ext cx="1080000" cy="1080000"/>
          </a:xfrm>
          <a:prstGeom prst="rect">
            <a:avLst/>
          </a:prstGeom>
        </p:spPr>
      </p:pic>
      <p:cxnSp>
        <p:nvCxnSpPr>
          <p:cNvPr id="25" name="直線箭頭接點 20"/>
          <p:cNvCxnSpPr/>
          <p:nvPr/>
        </p:nvCxnSpPr>
        <p:spPr>
          <a:xfrm flipV="1">
            <a:off x="3590376" y="3671783"/>
            <a:ext cx="753025" cy="5795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6" name="圖片 21"/>
          <p:cNvPicPr>
            <a:picLocks noChangeAspect="1"/>
          </p:cNvPicPr>
          <p:nvPr/>
        </p:nvPicPr>
        <p:blipFill>
          <a:blip r:embed="rId8"/>
          <a:srcRect/>
          <a:stretch/>
        </p:blipFill>
        <p:spPr>
          <a:xfrm>
            <a:off x="4623185" y="3063520"/>
            <a:ext cx="1080000" cy="1080000"/>
          </a:xfrm>
          <a:prstGeom prst="rect">
            <a:avLst/>
          </a:prstGeom>
        </p:spPr>
      </p:pic>
      <p:cxnSp>
        <p:nvCxnSpPr>
          <p:cNvPr id="27" name="直線箭頭接點 24"/>
          <p:cNvCxnSpPr/>
          <p:nvPr/>
        </p:nvCxnSpPr>
        <p:spPr>
          <a:xfrm>
            <a:off x="5947336" y="3620185"/>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8" name="圖片 25"/>
          <p:cNvPicPr>
            <a:picLocks noChangeAspect="1"/>
          </p:cNvPicPr>
          <p:nvPr/>
        </p:nvPicPr>
        <p:blipFill>
          <a:blip r:embed="rId9"/>
          <a:srcRect/>
          <a:stretch/>
        </p:blipFill>
        <p:spPr>
          <a:xfrm>
            <a:off x="4623185" y="4470583"/>
            <a:ext cx="1080000" cy="1080000"/>
          </a:xfrm>
          <a:prstGeom prst="rect">
            <a:avLst/>
          </a:prstGeom>
        </p:spPr>
      </p:pic>
      <p:cxnSp>
        <p:nvCxnSpPr>
          <p:cNvPr id="29" name="直線箭頭接點 27"/>
          <p:cNvCxnSpPr/>
          <p:nvPr/>
        </p:nvCxnSpPr>
        <p:spPr>
          <a:xfrm>
            <a:off x="3590376" y="4251333"/>
            <a:ext cx="753025" cy="72001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0" name="圖片 35"/>
          <p:cNvPicPr>
            <a:picLocks noChangeAspect="1"/>
          </p:cNvPicPr>
          <p:nvPr/>
        </p:nvPicPr>
        <p:blipFill>
          <a:blip r:embed="rId10"/>
          <a:srcRect/>
          <a:stretch/>
        </p:blipFill>
        <p:spPr>
          <a:xfrm>
            <a:off x="3727203" y="4605400"/>
            <a:ext cx="251999" cy="251999"/>
          </a:xfrm>
          <a:prstGeom prst="rect">
            <a:avLst/>
          </a:prstGeom>
        </p:spPr>
      </p:pic>
      <p:pic>
        <p:nvPicPr>
          <p:cNvPr id="31" name="圖片 37"/>
          <p:cNvPicPr>
            <a:picLocks noChangeAspect="1"/>
          </p:cNvPicPr>
          <p:nvPr/>
        </p:nvPicPr>
        <p:blipFill>
          <a:blip r:embed="rId11"/>
          <a:srcRect/>
          <a:stretch/>
        </p:blipFill>
        <p:spPr>
          <a:xfrm>
            <a:off x="6784889" y="3061502"/>
            <a:ext cx="1080000" cy="1080000"/>
          </a:xfrm>
          <a:prstGeom prst="rect">
            <a:avLst/>
          </a:prstGeom>
        </p:spPr>
      </p:pic>
      <p:cxnSp>
        <p:nvCxnSpPr>
          <p:cNvPr id="32" name="直線箭頭接點 38"/>
          <p:cNvCxnSpPr/>
          <p:nvPr/>
        </p:nvCxnSpPr>
        <p:spPr>
          <a:xfrm>
            <a:off x="8105644" y="3620185"/>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3" name="圖片 39"/>
          <p:cNvPicPr>
            <a:picLocks noChangeAspect="1"/>
          </p:cNvPicPr>
          <p:nvPr/>
        </p:nvPicPr>
        <p:blipFill>
          <a:blip r:embed="rId12"/>
          <a:srcRect/>
          <a:stretch/>
        </p:blipFill>
        <p:spPr>
          <a:xfrm>
            <a:off x="8891580" y="3061502"/>
            <a:ext cx="1080000" cy="1080000"/>
          </a:xfrm>
          <a:prstGeom prst="rect">
            <a:avLst/>
          </a:prstGeom>
        </p:spPr>
      </p:pic>
      <p:cxnSp>
        <p:nvCxnSpPr>
          <p:cNvPr id="34" name="直線箭頭接點 41"/>
          <p:cNvCxnSpPr/>
          <p:nvPr/>
        </p:nvCxnSpPr>
        <p:spPr>
          <a:xfrm>
            <a:off x="5947336" y="5004758"/>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5" name="圖片 42"/>
          <p:cNvPicPr>
            <a:picLocks noChangeAspect="1"/>
          </p:cNvPicPr>
          <p:nvPr/>
        </p:nvPicPr>
        <p:blipFill>
          <a:blip r:embed="rId13"/>
          <a:srcRect/>
          <a:stretch/>
        </p:blipFill>
        <p:spPr>
          <a:xfrm>
            <a:off x="6750164" y="4463929"/>
            <a:ext cx="1080000" cy="1067441"/>
          </a:xfrm>
          <a:prstGeom prst="rect">
            <a:avLst/>
          </a:prstGeom>
        </p:spPr>
      </p:pic>
      <p:cxnSp>
        <p:nvCxnSpPr>
          <p:cNvPr id="36" name="直線箭頭接點 43"/>
          <p:cNvCxnSpPr/>
          <p:nvPr/>
        </p:nvCxnSpPr>
        <p:spPr>
          <a:xfrm>
            <a:off x="8105644" y="5004758"/>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7" name="圖片 44"/>
          <p:cNvPicPr>
            <a:picLocks noChangeAspect="1"/>
          </p:cNvPicPr>
          <p:nvPr/>
        </p:nvPicPr>
        <p:blipFill>
          <a:blip r:embed="rId14"/>
          <a:srcRect/>
          <a:stretch/>
        </p:blipFill>
        <p:spPr>
          <a:xfrm>
            <a:off x="8845280" y="4446075"/>
            <a:ext cx="1080000" cy="1080000"/>
          </a:xfrm>
          <a:prstGeom prst="rect">
            <a:avLst/>
          </a:prstGeom>
        </p:spPr>
      </p:pic>
    </p:spTree>
    <p:extLst>
      <p:ext uri="{BB962C8B-B14F-4D97-AF65-F5344CB8AC3E}">
        <p14:creationId xmlns:p14="http://schemas.microsoft.com/office/powerpoint/2010/main" val="2271170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5AF07AD-51AD-0679-2330-BE6AED88B13D}"/>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AE4C2856-7257-764F-AFBA-C16514BB6B1D}"/>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User Scenario: Sales / Scheduler</a:t>
            </a:r>
          </a:p>
        </p:txBody>
      </p:sp>
      <p:sp>
        <p:nvSpPr>
          <p:cNvPr id="4" name="矩形 3">
            <a:extLst>
              <a:ext uri="{FF2B5EF4-FFF2-40B4-BE49-F238E27FC236}">
                <a16:creationId xmlns:a16="http://schemas.microsoft.com/office/drawing/2014/main" id="{EB6AE7D6-26F1-C16D-432C-BFA6144DA701}"/>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4CEFBDA3-9BE4-A8DD-6D19-4291AE361B5C}"/>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5</a:t>
            </a:r>
            <a:endParaRPr sz="900" b="0" dirty="0">
              <a:solidFill>
                <a:srgbClr val="5C6678"/>
              </a:solidFill>
              <a:latin typeface="Arial"/>
              <a:ea typeface="Arial"/>
              <a:cs typeface="Arial"/>
            </a:endParaRPr>
          </a:p>
        </p:txBody>
      </p:sp>
      <p:pic>
        <p:nvPicPr>
          <p:cNvPr id="17" name="圖片 5"/>
          <p:cNvPicPr>
            <a:picLocks noChangeAspect="1"/>
          </p:cNvPicPr>
          <p:nvPr/>
        </p:nvPicPr>
        <p:blipFill>
          <a:blip r:embed="rId3"/>
          <a:srcRect/>
          <a:stretch/>
        </p:blipFill>
        <p:spPr>
          <a:xfrm>
            <a:off x="6500717" y="1353202"/>
            <a:ext cx="1440000" cy="1440000"/>
          </a:xfrm>
          <a:prstGeom prst="rect">
            <a:avLst/>
          </a:prstGeom>
        </p:spPr>
      </p:pic>
      <p:cxnSp>
        <p:nvCxnSpPr>
          <p:cNvPr id="18" name="直線箭頭接點 6"/>
          <p:cNvCxnSpPr/>
          <p:nvPr/>
        </p:nvCxnSpPr>
        <p:spPr>
          <a:xfrm>
            <a:off x="1740819" y="4251333"/>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9" name="圖片 10"/>
          <p:cNvPicPr>
            <a:picLocks noChangeAspect="1"/>
          </p:cNvPicPr>
          <p:nvPr/>
        </p:nvPicPr>
        <p:blipFill>
          <a:blip r:embed="rId4"/>
          <a:srcRect/>
          <a:stretch/>
        </p:blipFill>
        <p:spPr>
          <a:xfrm>
            <a:off x="601185" y="3671783"/>
            <a:ext cx="1080000" cy="1080000"/>
          </a:xfrm>
          <a:prstGeom prst="rect">
            <a:avLst/>
          </a:prstGeom>
        </p:spPr>
      </p:pic>
      <p:pic>
        <p:nvPicPr>
          <p:cNvPr id="20" name="圖片 13"/>
          <p:cNvPicPr>
            <a:picLocks noChangeAspect="1"/>
          </p:cNvPicPr>
          <p:nvPr/>
        </p:nvPicPr>
        <p:blipFill>
          <a:blip r:embed="rId5"/>
          <a:srcRect/>
          <a:stretch/>
        </p:blipFill>
        <p:spPr>
          <a:xfrm>
            <a:off x="2212703" y="1353202"/>
            <a:ext cx="1427368" cy="1440000"/>
          </a:xfrm>
          <a:prstGeom prst="rect">
            <a:avLst/>
          </a:prstGeom>
        </p:spPr>
      </p:pic>
      <p:pic>
        <p:nvPicPr>
          <p:cNvPr id="21" name="圖片 16"/>
          <p:cNvPicPr>
            <a:picLocks noChangeAspect="1"/>
          </p:cNvPicPr>
          <p:nvPr/>
        </p:nvPicPr>
        <p:blipFill>
          <a:blip r:embed="rId6"/>
          <a:srcRect/>
          <a:stretch/>
        </p:blipFill>
        <p:spPr>
          <a:xfrm>
            <a:off x="3727202" y="3656982"/>
            <a:ext cx="292767" cy="292767"/>
          </a:xfrm>
          <a:prstGeom prst="rect">
            <a:avLst/>
          </a:prstGeom>
        </p:spPr>
      </p:pic>
      <p:sp>
        <p:nvSpPr>
          <p:cNvPr id="23" name="矩形 22">
            <a:extLst>
              <a:ext uri="{FF2B5EF4-FFF2-40B4-BE49-F238E27FC236}">
                <a16:creationId xmlns:a16="http://schemas.microsoft.com/office/drawing/2014/main" id="{1F643D35-73AC-EF2F-76CF-98E20EC0C810}"/>
              </a:ext>
            </a:extLst>
          </p:cNvPr>
          <p:cNvSpPr>
            <a:spLocks noGrp="1"/>
          </p:cNvSpPr>
          <p:nvPr/>
        </p:nvSpPr>
        <p:spPr>
          <a:xfrm>
            <a:off x="561782" y="6200775"/>
            <a:ext cx="103632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b="1">
                <a:latin typeface="Calibri"/>
                <a:ea typeface="Calibri"/>
                <a:cs typeface="Calibri"/>
              </a:rPr>
              <a:t>Solution: WOMS lets Sales check feasibility first, then lets Scheduler validate and schedule wafer.</a:t>
            </a:r>
          </a:p>
        </p:txBody>
      </p:sp>
      <p:pic>
        <p:nvPicPr>
          <p:cNvPr id="24" name="圖片 18"/>
          <p:cNvPicPr>
            <a:picLocks noChangeAspect="1"/>
          </p:cNvPicPr>
          <p:nvPr/>
        </p:nvPicPr>
        <p:blipFill>
          <a:blip r:embed="rId7"/>
          <a:srcRect/>
          <a:stretch/>
        </p:blipFill>
        <p:spPr>
          <a:xfrm>
            <a:off x="2359842" y="3671783"/>
            <a:ext cx="1080000" cy="1080000"/>
          </a:xfrm>
          <a:prstGeom prst="rect">
            <a:avLst/>
          </a:prstGeom>
          <a:ln w="38100">
            <a:solidFill>
              <a:srgbClr val="FF0000"/>
            </a:solidFill>
          </a:ln>
        </p:spPr>
      </p:pic>
      <p:cxnSp>
        <p:nvCxnSpPr>
          <p:cNvPr id="25" name="直線箭頭接點 20"/>
          <p:cNvCxnSpPr/>
          <p:nvPr/>
        </p:nvCxnSpPr>
        <p:spPr>
          <a:xfrm flipV="1">
            <a:off x="3590376" y="3671783"/>
            <a:ext cx="753025" cy="57955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6" name="圖片 21"/>
          <p:cNvPicPr>
            <a:picLocks noChangeAspect="1"/>
          </p:cNvPicPr>
          <p:nvPr/>
        </p:nvPicPr>
        <p:blipFill>
          <a:blip r:embed="rId8"/>
          <a:srcRect/>
          <a:stretch/>
        </p:blipFill>
        <p:spPr>
          <a:xfrm>
            <a:off x="4623185" y="3063520"/>
            <a:ext cx="1080000" cy="1080000"/>
          </a:xfrm>
          <a:prstGeom prst="rect">
            <a:avLst/>
          </a:prstGeom>
          <a:ln w="38100">
            <a:solidFill>
              <a:srgbClr val="FF0000"/>
            </a:solidFill>
          </a:ln>
        </p:spPr>
      </p:pic>
      <p:cxnSp>
        <p:nvCxnSpPr>
          <p:cNvPr id="27" name="直線箭頭接點 24"/>
          <p:cNvCxnSpPr/>
          <p:nvPr/>
        </p:nvCxnSpPr>
        <p:spPr>
          <a:xfrm>
            <a:off x="5947336" y="3620185"/>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28" name="圖片 25"/>
          <p:cNvPicPr>
            <a:picLocks noChangeAspect="1"/>
          </p:cNvPicPr>
          <p:nvPr/>
        </p:nvPicPr>
        <p:blipFill>
          <a:blip r:embed="rId9"/>
          <a:srcRect/>
          <a:stretch/>
        </p:blipFill>
        <p:spPr>
          <a:xfrm>
            <a:off x="4623185" y="4470583"/>
            <a:ext cx="1080000" cy="1080000"/>
          </a:xfrm>
          <a:prstGeom prst="rect">
            <a:avLst/>
          </a:prstGeom>
        </p:spPr>
      </p:pic>
      <p:cxnSp>
        <p:nvCxnSpPr>
          <p:cNvPr id="29" name="直線箭頭接點 27"/>
          <p:cNvCxnSpPr/>
          <p:nvPr/>
        </p:nvCxnSpPr>
        <p:spPr>
          <a:xfrm>
            <a:off x="3590376" y="4251333"/>
            <a:ext cx="753025" cy="72001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0" name="圖片 35"/>
          <p:cNvPicPr>
            <a:picLocks noChangeAspect="1"/>
          </p:cNvPicPr>
          <p:nvPr/>
        </p:nvPicPr>
        <p:blipFill>
          <a:blip r:embed="rId10"/>
          <a:srcRect/>
          <a:stretch/>
        </p:blipFill>
        <p:spPr>
          <a:xfrm>
            <a:off x="3727203" y="4605400"/>
            <a:ext cx="251999" cy="251999"/>
          </a:xfrm>
          <a:prstGeom prst="rect">
            <a:avLst/>
          </a:prstGeom>
        </p:spPr>
      </p:pic>
      <p:pic>
        <p:nvPicPr>
          <p:cNvPr id="31" name="圖片 37"/>
          <p:cNvPicPr>
            <a:picLocks noChangeAspect="1"/>
          </p:cNvPicPr>
          <p:nvPr/>
        </p:nvPicPr>
        <p:blipFill>
          <a:blip r:embed="rId11"/>
          <a:srcRect/>
          <a:stretch/>
        </p:blipFill>
        <p:spPr>
          <a:xfrm>
            <a:off x="6784889" y="3061502"/>
            <a:ext cx="1080000" cy="1080000"/>
          </a:xfrm>
          <a:prstGeom prst="rect">
            <a:avLst/>
          </a:prstGeom>
          <a:ln w="38100">
            <a:solidFill>
              <a:srgbClr val="FF0000"/>
            </a:solidFill>
          </a:ln>
        </p:spPr>
      </p:pic>
      <p:cxnSp>
        <p:nvCxnSpPr>
          <p:cNvPr id="32" name="直線箭頭接點 38"/>
          <p:cNvCxnSpPr/>
          <p:nvPr/>
        </p:nvCxnSpPr>
        <p:spPr>
          <a:xfrm>
            <a:off x="8105644" y="3620185"/>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3" name="圖片 39"/>
          <p:cNvPicPr>
            <a:picLocks noChangeAspect="1"/>
          </p:cNvPicPr>
          <p:nvPr/>
        </p:nvPicPr>
        <p:blipFill>
          <a:blip r:embed="rId12"/>
          <a:srcRect/>
          <a:stretch/>
        </p:blipFill>
        <p:spPr>
          <a:xfrm>
            <a:off x="8891580" y="3061502"/>
            <a:ext cx="1080000" cy="1080000"/>
          </a:xfrm>
          <a:prstGeom prst="rect">
            <a:avLst/>
          </a:prstGeom>
        </p:spPr>
      </p:pic>
      <p:cxnSp>
        <p:nvCxnSpPr>
          <p:cNvPr id="34" name="直線箭頭接點 41"/>
          <p:cNvCxnSpPr/>
          <p:nvPr/>
        </p:nvCxnSpPr>
        <p:spPr>
          <a:xfrm>
            <a:off x="5947336" y="5004758"/>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5" name="圖片 42"/>
          <p:cNvPicPr>
            <a:picLocks noChangeAspect="1"/>
          </p:cNvPicPr>
          <p:nvPr/>
        </p:nvPicPr>
        <p:blipFill>
          <a:blip r:embed="rId13"/>
          <a:srcRect/>
          <a:stretch/>
        </p:blipFill>
        <p:spPr>
          <a:xfrm>
            <a:off x="6750164" y="4463929"/>
            <a:ext cx="1080000" cy="1067441"/>
          </a:xfrm>
          <a:prstGeom prst="rect">
            <a:avLst/>
          </a:prstGeom>
        </p:spPr>
      </p:pic>
      <p:cxnSp>
        <p:nvCxnSpPr>
          <p:cNvPr id="36" name="直線箭頭接點 43"/>
          <p:cNvCxnSpPr/>
          <p:nvPr/>
        </p:nvCxnSpPr>
        <p:spPr>
          <a:xfrm>
            <a:off x="8105644" y="5004758"/>
            <a:ext cx="54518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37" name="圖片 44"/>
          <p:cNvPicPr>
            <a:picLocks noChangeAspect="1"/>
          </p:cNvPicPr>
          <p:nvPr/>
        </p:nvPicPr>
        <p:blipFill>
          <a:blip r:embed="rId14"/>
          <a:srcRect/>
          <a:stretch/>
        </p:blipFill>
        <p:spPr>
          <a:xfrm>
            <a:off x="8845280" y="4446075"/>
            <a:ext cx="1080000" cy="1080000"/>
          </a:xfrm>
          <a:prstGeom prst="rect">
            <a:avLst/>
          </a:prstGeom>
        </p:spPr>
      </p:pic>
    </p:spTree>
    <p:extLst>
      <p:ext uri="{BB962C8B-B14F-4D97-AF65-F5344CB8AC3E}">
        <p14:creationId xmlns:p14="http://schemas.microsoft.com/office/powerpoint/2010/main" val="271268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10032F8-C3D3-8835-527E-EAAA2028BA90}"/>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0E8CF729-B35E-810B-7BDD-6B0399BFF0BE}"/>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System Architecture: Application</a:t>
            </a:r>
          </a:p>
        </p:txBody>
      </p:sp>
      <p:sp>
        <p:nvSpPr>
          <p:cNvPr id="4" name="矩形 3">
            <a:extLst>
              <a:ext uri="{FF2B5EF4-FFF2-40B4-BE49-F238E27FC236}">
                <a16:creationId xmlns:a16="http://schemas.microsoft.com/office/drawing/2014/main" id="{32DFCCDA-967B-6518-0ED1-6B197D881D4B}"/>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0DE9CFF3-5E4F-D722-0E43-28B935320F19}"/>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6</a:t>
            </a:r>
            <a:endParaRPr sz="900" b="0" dirty="0">
              <a:solidFill>
                <a:srgbClr val="5C6678"/>
              </a:solidFill>
              <a:latin typeface="Arial"/>
              <a:ea typeface="Arial"/>
              <a:cs typeface="Arial"/>
            </a:endParaRPr>
          </a:p>
        </p:txBody>
      </p:sp>
      <p:pic>
        <p:nvPicPr>
          <p:cNvPr id="17" name="圖片 6"/>
          <p:cNvPicPr>
            <a:picLocks noChangeAspect="1"/>
          </p:cNvPicPr>
          <p:nvPr/>
        </p:nvPicPr>
        <p:blipFill>
          <a:blip r:embed="rId3"/>
          <a:srcRect/>
          <a:stretch/>
        </p:blipFill>
        <p:spPr>
          <a:xfrm>
            <a:off x="533398" y="1518678"/>
            <a:ext cx="10363199" cy="4593646"/>
          </a:xfrm>
          <a:prstGeom prst="rect">
            <a:avLst/>
          </a:prstGeom>
        </p:spPr>
      </p:pic>
      <p:sp>
        <p:nvSpPr>
          <p:cNvPr id="8" name="矩形 7">
            <a:extLst>
              <a:ext uri="{FF2B5EF4-FFF2-40B4-BE49-F238E27FC236}">
                <a16:creationId xmlns:a16="http://schemas.microsoft.com/office/drawing/2014/main" id="{A836415C-A738-29A5-228C-760E5EDC77C9}"/>
              </a:ext>
            </a:extLst>
          </p:cNvPr>
          <p:cNvSpPr>
            <a:spLocks noGrp="1"/>
          </p:cNvSpPr>
          <p:nvPr/>
        </p:nvSpPr>
        <p:spPr>
          <a:xfrm>
            <a:off x="561782" y="6283901"/>
            <a:ext cx="10999836"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b="1" dirty="0">
                <a:latin typeface="Calibri"/>
                <a:ea typeface="Calibri"/>
                <a:cs typeface="Calibri"/>
              </a:rPr>
              <a:t>Takeaway: WOMS separates UI, API validation, async jobs, database state, and shared locks.</a:t>
            </a:r>
          </a:p>
        </p:txBody>
      </p:sp>
    </p:spTree>
    <p:extLst>
      <p:ext uri="{BB962C8B-B14F-4D97-AF65-F5344CB8AC3E}">
        <p14:creationId xmlns:p14="http://schemas.microsoft.com/office/powerpoint/2010/main" val="2574633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AE4EE5F8-C41F-F13E-4F83-EB779627D39B}"/>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1388C1F8-BEE5-27F4-BE29-882EA1D72923}"/>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WOMS Workflow: Sales</a:t>
            </a:r>
          </a:p>
        </p:txBody>
      </p:sp>
      <p:sp>
        <p:nvSpPr>
          <p:cNvPr id="4" name="矩形 3">
            <a:extLst>
              <a:ext uri="{FF2B5EF4-FFF2-40B4-BE49-F238E27FC236}">
                <a16:creationId xmlns:a16="http://schemas.microsoft.com/office/drawing/2014/main" id="{AC558AA3-DFE3-C5FA-3010-33508A6B8E16}"/>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541815C3-CCEE-29F0-DACC-C20664792B00}"/>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7</a:t>
            </a:r>
            <a:endParaRPr sz="900" b="0" dirty="0">
              <a:solidFill>
                <a:srgbClr val="5C6678"/>
              </a:solidFill>
              <a:latin typeface="Arial"/>
              <a:ea typeface="Arial"/>
              <a:cs typeface="Arial"/>
            </a:endParaRPr>
          </a:p>
        </p:txBody>
      </p:sp>
      <p:sp>
        <p:nvSpPr>
          <p:cNvPr id="11" name="矩形 10">
            <a:extLst>
              <a:ext uri="{FF2B5EF4-FFF2-40B4-BE49-F238E27FC236}">
                <a16:creationId xmlns:a16="http://schemas.microsoft.com/office/drawing/2014/main" id="{DF8155AC-2171-0135-CC6F-65B413E04118}"/>
              </a:ext>
            </a:extLst>
          </p:cNvPr>
          <p:cNvSpPr>
            <a:spLocks noGrp="1"/>
          </p:cNvSpPr>
          <p:nvPr/>
        </p:nvSpPr>
        <p:spPr>
          <a:xfrm>
            <a:off x="561782" y="6283901"/>
            <a:ext cx="103632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400" b="1" dirty="0">
                <a:latin typeface="Calibri"/>
                <a:ea typeface="Calibri"/>
                <a:cs typeface="Calibri"/>
              </a:rPr>
              <a:t>Takeaway: Sales checks feasibility before submitting or renegotiating the order.</a:t>
            </a:r>
          </a:p>
        </p:txBody>
      </p:sp>
      <p:pic>
        <p:nvPicPr>
          <p:cNvPr id="18" name="圖片 11"/>
          <p:cNvPicPr>
            <a:picLocks noChangeAspect="1"/>
          </p:cNvPicPr>
          <p:nvPr/>
        </p:nvPicPr>
        <p:blipFill>
          <a:blip r:embed="rId3"/>
          <a:stretch>
            <a:fillRect/>
          </a:stretch>
        </p:blipFill>
        <p:spPr>
          <a:xfrm>
            <a:off x="561782" y="1229232"/>
            <a:ext cx="10471492" cy="4523868"/>
          </a:xfrm>
          <a:prstGeom prst="rect">
            <a:avLst/>
          </a:prstGeom>
        </p:spPr>
      </p:pic>
    </p:spTree>
    <p:extLst>
      <p:ext uri="{BB962C8B-B14F-4D97-AF65-F5344CB8AC3E}">
        <p14:creationId xmlns:p14="http://schemas.microsoft.com/office/powerpoint/2010/main" val="1590869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DD83D28-6BA8-A095-7301-2BA70A3E921E}"/>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3A5C0612-EFA3-0FA7-035B-64DBA3743CE3}"/>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WOMS Workflow: Scheduler</a:t>
            </a:r>
          </a:p>
        </p:txBody>
      </p:sp>
      <p:sp>
        <p:nvSpPr>
          <p:cNvPr id="4" name="矩形 3">
            <a:extLst>
              <a:ext uri="{FF2B5EF4-FFF2-40B4-BE49-F238E27FC236}">
                <a16:creationId xmlns:a16="http://schemas.microsoft.com/office/drawing/2014/main" id="{0782EBF9-68E3-A0D8-D83C-B12DEA5C3E5A}"/>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FB4EC4B0-B306-3F91-8CAE-7860C9609510}"/>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8</a:t>
            </a:r>
            <a:endParaRPr sz="900" b="0" dirty="0">
              <a:solidFill>
                <a:srgbClr val="5C6678"/>
              </a:solidFill>
              <a:latin typeface="Arial"/>
              <a:ea typeface="Arial"/>
              <a:cs typeface="Arial"/>
            </a:endParaRPr>
          </a:p>
        </p:txBody>
      </p:sp>
      <p:sp>
        <p:nvSpPr>
          <p:cNvPr id="8" name="矩形 7">
            <a:extLst>
              <a:ext uri="{FF2B5EF4-FFF2-40B4-BE49-F238E27FC236}">
                <a16:creationId xmlns:a16="http://schemas.microsoft.com/office/drawing/2014/main" id="{CE30E316-C4EA-BF9E-1341-7A41FDD7028D}"/>
              </a:ext>
            </a:extLst>
          </p:cNvPr>
          <p:cNvSpPr>
            <a:spLocks noGrp="1"/>
          </p:cNvSpPr>
          <p:nvPr/>
        </p:nvSpPr>
        <p:spPr>
          <a:xfrm>
            <a:off x="561782" y="6283901"/>
            <a:ext cx="103632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400" b="1">
                <a:latin typeface="Calibri"/>
                <a:ea typeface="Calibri"/>
                <a:cs typeface="Calibri"/>
              </a:rPr>
              <a:t>Takeaway: Scheduler validates conflicts before changing the production schedule.</a:t>
            </a:r>
          </a:p>
        </p:txBody>
      </p:sp>
      <p:pic>
        <p:nvPicPr>
          <p:cNvPr id="18" name="圖片 8"/>
          <p:cNvPicPr>
            <a:picLocks noChangeAspect="1"/>
          </p:cNvPicPr>
          <p:nvPr/>
        </p:nvPicPr>
        <p:blipFill>
          <a:blip r:embed="rId3"/>
          <a:stretch>
            <a:fillRect/>
          </a:stretch>
        </p:blipFill>
        <p:spPr>
          <a:xfrm>
            <a:off x="647217" y="1123949"/>
            <a:ext cx="9133391" cy="5268001"/>
          </a:xfrm>
          <a:prstGeom prst="rect">
            <a:avLst/>
          </a:prstGeom>
        </p:spPr>
      </p:pic>
    </p:spTree>
    <p:extLst>
      <p:ext uri="{BB962C8B-B14F-4D97-AF65-F5344CB8AC3E}">
        <p14:creationId xmlns:p14="http://schemas.microsoft.com/office/powerpoint/2010/main" val="239537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System Architecture: Infrastructure</a:t>
            </a: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9</a:t>
            </a:r>
            <a:endParaRPr sz="900" b="0" dirty="0">
              <a:solidFill>
                <a:srgbClr val="5C6678"/>
              </a:solidFill>
              <a:latin typeface="Arial"/>
              <a:ea typeface="Arial"/>
              <a:cs typeface="Arial"/>
            </a:endParaRPr>
          </a:p>
        </p:txBody>
      </p:sp>
      <p:pic>
        <p:nvPicPr>
          <p:cNvPr id="17" name="圖片 6"/>
          <p:cNvPicPr>
            <a:picLocks noChangeAspect="1"/>
          </p:cNvPicPr>
          <p:nvPr/>
        </p:nvPicPr>
        <p:blipFill>
          <a:blip r:embed="rId3"/>
          <a:stretch>
            <a:fillRect/>
          </a:stretch>
        </p:blipFill>
        <p:spPr>
          <a:xfrm>
            <a:off x="533399" y="1280639"/>
            <a:ext cx="8564301" cy="4928143"/>
          </a:xfrm>
          <a:prstGeom prst="rect">
            <a:avLst/>
          </a:prstGeom>
        </p:spPr>
      </p:pic>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1037936"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dirty="0">
                <a:latin typeface="Calibri"/>
                <a:ea typeface="Calibri"/>
                <a:cs typeface="Calibri"/>
              </a:rPr>
              <a:t>Takeaway: WOMS is deployed on GKE with HTTPS ingress, stateful services, monitoring, and autoscaling.</a:t>
            </a:r>
          </a:p>
        </p:txBody>
      </p:sp>
    </p:spTree>
    <p:extLst>
      <p:ext uri="{BB962C8B-B14F-4D97-AF65-F5344CB8AC3E}">
        <p14:creationId xmlns:p14="http://schemas.microsoft.com/office/powerpoint/2010/main" val="4239220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dirty="0">
                <a:solidFill>
                  <a:srgbClr val="172033"/>
                </a:solidFill>
                <a:latin typeface="Calibri"/>
                <a:ea typeface="Calibri"/>
                <a:cs typeface="Calibri"/>
              </a:rPr>
              <a:t>API </a:t>
            </a:r>
            <a:r>
              <a:rPr lang="en-US" sz="3200" dirty="0">
                <a:solidFill>
                  <a:srgbClr val="172033"/>
                </a:solidFill>
                <a:latin typeface="Calibri"/>
                <a:ea typeface="Calibri"/>
                <a:cs typeface="Calibri"/>
              </a:rPr>
              <a:t>Server </a:t>
            </a:r>
            <a:r>
              <a:rPr sz="3200" dirty="0">
                <a:solidFill>
                  <a:srgbClr val="172033"/>
                </a:solidFill>
                <a:latin typeface="Calibri"/>
                <a:ea typeface="Calibri"/>
                <a:cs typeface="Calibri"/>
              </a:rPr>
              <a:t>and Security</a:t>
            </a:r>
            <a:r>
              <a:rPr lang="en-US" sz="3200" dirty="0">
                <a:solidFill>
                  <a:srgbClr val="172033"/>
                </a:solidFill>
                <a:latin typeface="Calibri"/>
                <a:ea typeface="Calibri"/>
                <a:cs typeface="Calibri"/>
              </a:rPr>
              <a:t> Flow</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a:solidFill>
                  <a:srgbClr val="5C6678"/>
                </a:solidFill>
                <a:latin typeface="Arial"/>
                <a:ea typeface="Arial"/>
                <a:cs typeface="Arial"/>
              </a:rPr>
              <a:t>10</a:t>
            </a:r>
          </a:p>
        </p:txBody>
      </p:sp>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1125394"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a:latin typeface="Calibri"/>
                <a:ea typeface="Calibri"/>
                <a:cs typeface="Calibri"/>
              </a:rPr>
              <a:t>Takeaway: API authorization stays inside Go even when Ingress performs edge auth.</a:t>
            </a:r>
          </a:p>
        </p:txBody>
      </p:sp>
      <p:pic>
        <p:nvPicPr>
          <p:cNvPr id="18" name="圖片 17"/>
          <p:cNvPicPr>
            <a:picLocks noChangeAspect="1"/>
          </p:cNvPicPr>
          <p:nvPr/>
        </p:nvPicPr>
        <p:blipFill>
          <a:blip r:embed="rId3">
            <a:extLst>
              <a:ext uri="{28A0092B-C50C-407E-A947-70E740481C1C}">
                <a14:useLocalDpi xmlns:a14="http://schemas.microsoft.com/office/drawing/2010/main" val="0"/>
              </a:ext>
            </a:extLst>
          </a:blip>
          <a:srcRect/>
          <a:stretch/>
        </p:blipFill>
        <p:spPr>
          <a:xfrm>
            <a:off x="533400" y="1680516"/>
            <a:ext cx="10363200" cy="2903258"/>
          </a:xfrm>
          <a:prstGeom prst="rect">
            <a:avLst/>
          </a:prstGeom>
        </p:spPr>
      </p:pic>
    </p:spTree>
    <p:extLst>
      <p:ext uri="{BB962C8B-B14F-4D97-AF65-F5344CB8AC3E}">
        <p14:creationId xmlns:p14="http://schemas.microsoft.com/office/powerpoint/2010/main" val="4239220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dirty="0">
                <a:solidFill>
                  <a:srgbClr val="172033"/>
                </a:solidFill>
                <a:latin typeface="Calibri"/>
                <a:ea typeface="Calibri"/>
                <a:cs typeface="Calibri"/>
              </a:rPr>
              <a:t>Database, Queue, and Cache</a:t>
            </a:r>
            <a:r>
              <a:rPr lang="en-US" sz="3200" dirty="0">
                <a:solidFill>
                  <a:srgbClr val="172033"/>
                </a:solidFill>
                <a:latin typeface="Calibri"/>
                <a:ea typeface="Calibri"/>
                <a:cs typeface="Calibri"/>
              </a:rPr>
              <a:t> Flow</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lang="en-US" sz="900" b="0" dirty="0">
                <a:solidFill>
                  <a:srgbClr val="5C6678"/>
                </a:solidFill>
                <a:latin typeface="Arial"/>
                <a:ea typeface="Arial"/>
                <a:cs typeface="Arial"/>
              </a:rPr>
              <a:t>11</a:t>
            </a:r>
            <a:endParaRPr sz="900" b="0" dirty="0">
              <a:solidFill>
                <a:srgbClr val="5C6678"/>
              </a:solidFill>
              <a:latin typeface="Arial"/>
              <a:ea typeface="Arial"/>
              <a:cs typeface="Arial"/>
            </a:endParaRPr>
          </a:p>
        </p:txBody>
      </p:sp>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054011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dirty="0">
                <a:latin typeface="Calibri"/>
                <a:ea typeface="Calibri"/>
                <a:cs typeface="Calibri"/>
              </a:rPr>
              <a:t>Takeaway: PostgreSQL records facts, Kafka carries work, and Redis guards short-lived consistency.</a:t>
            </a:r>
          </a:p>
        </p:txBody>
      </p:sp>
      <p:pic>
        <p:nvPicPr>
          <p:cNvPr id="18" name="圖片 17"/>
          <p:cNvPicPr>
            <a:picLocks noChangeAspect="1"/>
          </p:cNvPicPr>
          <p:nvPr/>
        </p:nvPicPr>
        <p:blipFill>
          <a:blip r:embed="rId3">
            <a:extLst>
              <a:ext uri="{28A0092B-C50C-407E-A947-70E740481C1C}">
                <a14:useLocalDpi xmlns:a14="http://schemas.microsoft.com/office/drawing/2010/main" val="0"/>
              </a:ext>
            </a:extLst>
          </a:blip>
          <a:srcRect/>
          <a:stretch/>
        </p:blipFill>
        <p:spPr>
          <a:xfrm>
            <a:off x="1774134" y="1755929"/>
            <a:ext cx="7805532" cy="3346142"/>
          </a:xfrm>
          <a:prstGeom prst="rect">
            <a:avLst/>
          </a:prstGeom>
        </p:spPr>
      </p:pic>
    </p:spTree>
    <p:extLst>
      <p:ext uri="{BB962C8B-B14F-4D97-AF65-F5344CB8AC3E}">
        <p14:creationId xmlns:p14="http://schemas.microsoft.com/office/powerpoint/2010/main" val="4239220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1C85155-1EDD-7127-8E06-FC64F14B8825}"/>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180236E0-4F97-4CBE-DB31-F4D2D721BF3A}"/>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59B4F1A1-2DDC-91B1-69AC-855BE6394657}"/>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lang="en-US" sz="3200" dirty="0">
                <a:solidFill>
                  <a:srgbClr val="172033"/>
                </a:solidFill>
                <a:latin typeface="Calibri"/>
                <a:ea typeface="Calibri"/>
                <a:cs typeface="Calibri"/>
              </a:rPr>
              <a:t>Monitoring Stack</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47CCC897-AC6B-0C6A-212B-09F09395F20A}"/>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0C2C7636-96D4-386A-F20A-99863A9D294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13</a:t>
            </a:r>
          </a:p>
        </p:txBody>
      </p:sp>
      <p:sp>
        <p:nvSpPr>
          <p:cNvPr id="3" name="內容版面配置區 2">
            <a:extLst>
              <a:ext uri="{FF2B5EF4-FFF2-40B4-BE49-F238E27FC236}">
                <a16:creationId xmlns:a16="http://schemas.microsoft.com/office/drawing/2014/main" id="{2665DA05-C6EB-57B0-F207-1CC76F9DEB29}"/>
              </a:ext>
            </a:extLst>
          </p:cNvPr>
          <p:cNvSpPr txBox="1">
            <a:spLocks/>
          </p:cNvSpPr>
          <p:nvPr/>
        </p:nvSpPr>
        <p:spPr>
          <a:xfrm>
            <a:off x="533400" y="1401762"/>
            <a:ext cx="10515600" cy="4351338"/>
          </a:xfrm>
          <a:prstGeom prst="rect">
            <a:avLst/>
          </a:prstGeom>
        </p:spPr>
        <p:txBody>
          <a:bodyPr/>
          <a:lst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lang="en-US" altLang="zh-TW" kern="0" dirty="0"/>
              <a:t>Stack:</a:t>
            </a:r>
          </a:p>
          <a:p>
            <a:pPr lvl="1"/>
            <a:r>
              <a:rPr lang="en-US" altLang="zh-TW" kern="0" dirty="0"/>
              <a:t>Prometheus : metrics collection</a:t>
            </a:r>
          </a:p>
          <a:p>
            <a:pPr lvl="1"/>
            <a:r>
              <a:rPr lang="en-US" altLang="zh-TW" kern="0" dirty="0"/>
              <a:t>Grafana : dashboard and visualization</a:t>
            </a:r>
          </a:p>
          <a:p>
            <a:pPr marL="0" indent="0">
              <a:buNone/>
            </a:pPr>
            <a:r>
              <a:rPr lang="en-US" altLang="zh-TW" kern="0" dirty="0"/>
              <a:t>Metrics:</a:t>
            </a:r>
          </a:p>
          <a:p>
            <a:pPr lvl="1"/>
            <a:r>
              <a:rPr lang="en-US" altLang="zh-TW" kern="0" dirty="0"/>
              <a:t>Request per second</a:t>
            </a:r>
          </a:p>
          <a:p>
            <a:pPr lvl="1"/>
            <a:r>
              <a:rPr lang="en-US" altLang="zh-TW" kern="0" dirty="0"/>
              <a:t>Request status</a:t>
            </a:r>
          </a:p>
          <a:p>
            <a:pPr lvl="1"/>
            <a:r>
              <a:rPr lang="en-US" altLang="zh-TW" kern="0" dirty="0"/>
              <a:t>Request latency (PR 99, 95, 50)</a:t>
            </a:r>
          </a:p>
          <a:p>
            <a:pPr lvl="1"/>
            <a:r>
              <a:rPr lang="en-US" altLang="zh-TW" kern="0" dirty="0"/>
              <a:t>Error rate</a:t>
            </a:r>
          </a:p>
          <a:p>
            <a:pPr lvl="1"/>
            <a:r>
              <a:rPr lang="en-US" altLang="zh-TW" kern="0" dirty="0"/>
              <a:t>Go routing and memory usage</a:t>
            </a:r>
          </a:p>
          <a:p>
            <a:pPr lvl="1"/>
            <a:r>
              <a:rPr lang="en-US" altLang="zh-TW" kern="0" dirty="0"/>
              <a:t>CPU utilization</a:t>
            </a:r>
          </a:p>
          <a:p>
            <a:pPr lvl="1"/>
            <a:r>
              <a:rPr lang="en-US" altLang="zh-TW" kern="0" dirty="0"/>
              <a:t>Nginx Request per second</a:t>
            </a:r>
          </a:p>
        </p:txBody>
      </p:sp>
      <p:pic>
        <p:nvPicPr>
          <p:cNvPr id="6" name="圖片 5">
            <a:extLst>
              <a:ext uri="{FF2B5EF4-FFF2-40B4-BE49-F238E27FC236}">
                <a16:creationId xmlns:a16="http://schemas.microsoft.com/office/drawing/2014/main" id="{58B5A93F-63AC-397A-4A42-A270682EAD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0225" y="1566739"/>
            <a:ext cx="3724521" cy="1862261"/>
          </a:xfrm>
          <a:prstGeom prst="rect">
            <a:avLst/>
          </a:prstGeom>
        </p:spPr>
      </p:pic>
      <p:pic>
        <p:nvPicPr>
          <p:cNvPr id="7" name="圖片 6">
            <a:extLst>
              <a:ext uri="{FF2B5EF4-FFF2-40B4-BE49-F238E27FC236}">
                <a16:creationId xmlns:a16="http://schemas.microsoft.com/office/drawing/2014/main" id="{B6DB61B1-1ECE-E7D4-4DEC-3D992739CF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584" y="3429000"/>
            <a:ext cx="3175802" cy="2378501"/>
          </a:xfrm>
          <a:prstGeom prst="rect">
            <a:avLst/>
          </a:prstGeom>
        </p:spPr>
      </p:pic>
    </p:spTree>
    <p:extLst>
      <p:ext uri="{BB962C8B-B14F-4D97-AF65-F5344CB8AC3E}">
        <p14:creationId xmlns:p14="http://schemas.microsoft.com/office/powerpoint/2010/main" val="325522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dirty="0">
                <a:solidFill>
                  <a:srgbClr val="172033"/>
                </a:solidFill>
                <a:latin typeface="Calibri"/>
                <a:ea typeface="Calibri"/>
                <a:cs typeface="Calibri"/>
              </a:rPr>
              <a:t>Monitoring and Autoscaling</a:t>
            </a:r>
            <a:r>
              <a:rPr lang="en-US" sz="3200" dirty="0">
                <a:solidFill>
                  <a:srgbClr val="172033"/>
                </a:solidFill>
                <a:latin typeface="Calibri"/>
                <a:ea typeface="Calibri"/>
                <a:cs typeface="Calibri"/>
              </a:rPr>
              <a:t> Flow</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sz="900" dirty="0">
                <a:solidFill>
                  <a:srgbClr val="5C6678"/>
                </a:solidFill>
                <a:latin typeface="Arial"/>
                <a:ea typeface="Arial"/>
                <a:cs typeface="Arial"/>
              </a:rPr>
              <a:t>2</a:t>
            </a:r>
            <a:endParaRPr sz="900" b="0" dirty="0">
              <a:solidFill>
                <a:srgbClr val="5C6678"/>
              </a:solidFill>
              <a:latin typeface="Arial"/>
              <a:ea typeface="Arial"/>
              <a:cs typeface="Arial"/>
            </a:endParaRPr>
          </a:p>
        </p:txBody>
      </p:sp>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0992909"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a:latin typeface="Calibri"/>
                <a:ea typeface="Calibri"/>
                <a:cs typeface="Calibri"/>
              </a:rPr>
              <a:t>Takeaway: KEDA, Prometheus, Grafana, and the HPA all read the same web req/s signal.</a:t>
            </a:r>
          </a:p>
        </p:txBody>
      </p:sp>
      <p:pic>
        <p:nvPicPr>
          <p:cNvPr id="18" name="圖片 17"/>
          <p:cNvPicPr>
            <a:picLocks noChangeAspect="1"/>
          </p:cNvPicPr>
          <p:nvPr/>
        </p:nvPicPr>
        <p:blipFill>
          <a:blip r:embed="rId3"/>
          <a:stretch/>
        </p:blipFill>
        <p:spPr>
          <a:xfrm>
            <a:off x="533400" y="1874991"/>
            <a:ext cx="10363200" cy="3346142"/>
          </a:xfrm>
          <a:prstGeom prst="rect">
            <a:avLst/>
          </a:prstGeom>
        </p:spPr>
      </p:pic>
    </p:spTree>
    <p:extLst>
      <p:ext uri="{BB962C8B-B14F-4D97-AF65-F5344CB8AC3E}">
        <p14:creationId xmlns:p14="http://schemas.microsoft.com/office/powerpoint/2010/main" val="4239220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7986-D7B0-EAD2-7F8C-93A59C4427C8}"/>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8FA882ED-3566-4E3E-1B3A-6DF22BCF866C}"/>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B0E69954-F8C0-0E6B-9238-3E09B08A7735}"/>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lang="en-US" sz="3200" dirty="0">
                <a:solidFill>
                  <a:srgbClr val="172033"/>
                </a:solidFill>
                <a:latin typeface="Calibri"/>
                <a:ea typeface="Calibri"/>
                <a:cs typeface="Calibri"/>
              </a:rPr>
              <a:t>Monitoring Stack – Grafana Dashboard</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021A622C-2D28-B1C0-7751-1924F6D07FB3}"/>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BCDA1DFA-4E05-4EDB-3329-D6C5EA62C09E}"/>
              </a:ext>
            </a:extLst>
          </p:cNvPr>
          <p:cNvSpPr>
            <a:spLocks noGrp="1"/>
          </p:cNvSpPr>
          <p:nvPr/>
        </p:nvSpPr>
        <p:spPr>
          <a:xfrm>
            <a:off x="11276367" y="6583008"/>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altLang="zh-TW" sz="900" b="0" dirty="0">
                <a:solidFill>
                  <a:srgbClr val="5C6678"/>
                </a:solidFill>
                <a:latin typeface="Arial"/>
                <a:ea typeface="Arial"/>
                <a:cs typeface="Arial"/>
              </a:rPr>
              <a:t>2</a:t>
            </a:r>
            <a:endParaRPr sz="900" b="0" dirty="0">
              <a:solidFill>
                <a:srgbClr val="5C6678"/>
              </a:solidFill>
              <a:latin typeface="Arial"/>
              <a:ea typeface="Arial"/>
              <a:cs typeface="Arial"/>
            </a:endParaRPr>
          </a:p>
        </p:txBody>
      </p:sp>
      <p:pic>
        <p:nvPicPr>
          <p:cNvPr id="8" name="內容版面配置區 4">
            <a:extLst>
              <a:ext uri="{FF2B5EF4-FFF2-40B4-BE49-F238E27FC236}">
                <a16:creationId xmlns:a16="http://schemas.microsoft.com/office/drawing/2014/main" id="{BB61FECF-9AB9-4193-A83D-C6219A787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470527"/>
            <a:ext cx="9104086" cy="4877398"/>
          </a:xfrm>
          <a:prstGeom prst="rect">
            <a:avLst/>
          </a:prstGeom>
        </p:spPr>
      </p:pic>
    </p:spTree>
    <p:extLst>
      <p:ext uri="{BB962C8B-B14F-4D97-AF65-F5344CB8AC3E}">
        <p14:creationId xmlns:p14="http://schemas.microsoft.com/office/powerpoint/2010/main" val="2050224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7986-D7B0-EAD2-7F8C-93A59C4427C8}"/>
            </a:ext>
          </a:extLst>
        </p:cNvPr>
        <p:cNvGrpSpPr/>
        <p:nvPr/>
      </p:nvGrpSpPr>
      <p:grpSpPr>
        <a:xfrm>
          <a:off x="0" y="0"/>
          <a:ext cx="0" cy="0"/>
          <a:chOff x="0" y="0"/>
          <a:chExt cx="0" cy="0"/>
        </a:xfrm>
      </p:grpSpPr>
      <p:sp>
        <p:nvSpPr>
          <p:cNvPr id="13" name="矩形 12">
            <a:extLst>
              <a:ext uri="{FF2B5EF4-FFF2-40B4-BE49-F238E27FC236}">
                <a16:creationId xmlns:a16="http://schemas.microsoft.com/office/drawing/2014/main" id="{8FA882ED-3566-4E3E-1B3A-6DF22BCF866C}"/>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B0E69954-F8C0-0E6B-9238-3E09B08A7735}"/>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lang="en-US" sz="3200" dirty="0">
                <a:solidFill>
                  <a:srgbClr val="172033"/>
                </a:solidFill>
                <a:latin typeface="Calibri"/>
                <a:ea typeface="Calibri"/>
                <a:cs typeface="Calibri"/>
              </a:rPr>
              <a:t>Monitoring Stack – Grafana Dashboard</a:t>
            </a:r>
            <a:endParaRPr sz="3200" dirty="0">
              <a:solidFill>
                <a:srgbClr val="172033"/>
              </a:solidFill>
              <a:latin typeface="Calibri"/>
              <a:ea typeface="Calibri"/>
              <a:cs typeface="Calibri"/>
            </a:endParaRPr>
          </a:p>
        </p:txBody>
      </p:sp>
      <p:sp>
        <p:nvSpPr>
          <p:cNvPr id="4" name="矩形 3">
            <a:extLst>
              <a:ext uri="{FF2B5EF4-FFF2-40B4-BE49-F238E27FC236}">
                <a16:creationId xmlns:a16="http://schemas.microsoft.com/office/drawing/2014/main" id="{021A622C-2D28-B1C0-7751-1924F6D07FB3}"/>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BCDA1DFA-4E05-4EDB-3329-D6C5EA62C09E}"/>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altLang="zh-TW" sz="900" dirty="0">
                <a:solidFill>
                  <a:srgbClr val="5C6678"/>
                </a:solidFill>
                <a:latin typeface="Arial"/>
                <a:ea typeface="Arial"/>
                <a:cs typeface="Arial"/>
              </a:rPr>
              <a:t>3</a:t>
            </a:r>
            <a:endParaRPr sz="900" b="0" dirty="0">
              <a:solidFill>
                <a:srgbClr val="5C6678"/>
              </a:solidFill>
              <a:latin typeface="Arial"/>
              <a:ea typeface="Arial"/>
              <a:cs typeface="Arial"/>
            </a:endParaRPr>
          </a:p>
        </p:txBody>
      </p:sp>
      <p:pic>
        <p:nvPicPr>
          <p:cNvPr id="8" name="內容版面配置區 4">
            <a:extLst>
              <a:ext uri="{FF2B5EF4-FFF2-40B4-BE49-F238E27FC236}">
                <a16:creationId xmlns:a16="http://schemas.microsoft.com/office/drawing/2014/main" id="{BB61FECF-9AB9-4193-A83D-C6219A7874B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4657" y="1470527"/>
            <a:ext cx="9101572" cy="4877398"/>
          </a:xfrm>
          <a:prstGeom prst="rect">
            <a:avLst/>
          </a:prstGeom>
        </p:spPr>
      </p:pic>
    </p:spTree>
    <p:extLst>
      <p:ext uri="{BB962C8B-B14F-4D97-AF65-F5344CB8AC3E}">
        <p14:creationId xmlns:p14="http://schemas.microsoft.com/office/powerpoint/2010/main" val="3190791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dirty="0">
                <a:solidFill>
                  <a:srgbClr val="172033"/>
                </a:solidFill>
                <a:latin typeface="Calibri"/>
                <a:ea typeface="Calibri"/>
                <a:cs typeface="Calibri"/>
              </a:rPr>
              <a:t>CI/CD Flow</a:t>
            </a: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sz="900" dirty="0">
                <a:solidFill>
                  <a:srgbClr val="5C6678"/>
                </a:solidFill>
                <a:latin typeface="Arial"/>
                <a:ea typeface="Arial"/>
                <a:cs typeface="Arial"/>
              </a:rPr>
              <a:t>5</a:t>
            </a:r>
            <a:endParaRPr sz="900" b="0" dirty="0">
              <a:solidFill>
                <a:srgbClr val="5C6678"/>
              </a:solidFill>
              <a:latin typeface="Arial"/>
              <a:ea typeface="Arial"/>
              <a:cs typeface="Arial"/>
            </a:endParaRPr>
          </a:p>
        </p:txBody>
      </p:sp>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0943033"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a:latin typeface="Calibri"/>
                <a:ea typeface="Calibri"/>
                <a:cs typeface="Calibri"/>
              </a:rPr>
              <a:t>Takeaway: CI proves code, Docker, Helm, and HPA rendering before release images are published.</a:t>
            </a:r>
          </a:p>
        </p:txBody>
      </p:sp>
      <p:pic>
        <p:nvPicPr>
          <p:cNvPr id="18" name="圖片 17"/>
          <p:cNvPicPr>
            <a:picLocks noChangeAspect="1"/>
          </p:cNvPicPr>
          <p:nvPr/>
        </p:nvPicPr>
        <p:blipFill>
          <a:blip r:embed="rId3"/>
          <a:stretch/>
        </p:blipFill>
        <p:spPr>
          <a:xfrm>
            <a:off x="533400" y="1874991"/>
            <a:ext cx="10363200" cy="3346142"/>
          </a:xfrm>
          <a:prstGeom prst="rect">
            <a:avLst/>
          </a:prstGeom>
        </p:spPr>
      </p:pic>
    </p:spTree>
    <p:extLst>
      <p:ext uri="{BB962C8B-B14F-4D97-AF65-F5344CB8AC3E}">
        <p14:creationId xmlns:p14="http://schemas.microsoft.com/office/powerpoint/2010/main" val="4239220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Demo</a:t>
            </a: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altLang="zh-TW" sz="900" b="0" dirty="0">
                <a:solidFill>
                  <a:srgbClr val="5C6678"/>
                </a:solidFill>
                <a:latin typeface="Arial"/>
                <a:ea typeface="Arial"/>
                <a:cs typeface="Arial"/>
              </a:rPr>
              <a:t>4</a:t>
            </a:r>
            <a:endParaRPr sz="900" b="0" dirty="0">
              <a:solidFill>
                <a:srgbClr val="5C6678"/>
              </a:solidFill>
              <a:latin typeface="Arial"/>
              <a:ea typeface="Arial"/>
              <a:cs typeface="Arial"/>
            </a:endParaRPr>
          </a:p>
        </p:txBody>
      </p:sp>
      <p:sp>
        <p:nvSpPr>
          <p:cNvPr id="7" name="文字方塊 6">
            <a:extLst>
              <a:ext uri="{FF2B5EF4-FFF2-40B4-BE49-F238E27FC236}">
                <a16:creationId xmlns:a16="http://schemas.microsoft.com/office/drawing/2014/main" id="{8B75B0BD-FDBB-4E88-94F2-09D24CF50ED8}"/>
              </a:ext>
            </a:extLst>
          </p:cNvPr>
          <p:cNvSpPr txBox="1"/>
          <p:nvPr/>
        </p:nvSpPr>
        <p:spPr>
          <a:xfrm>
            <a:off x="533400" y="3244334"/>
            <a:ext cx="10363200" cy="646331"/>
          </a:xfrm>
          <a:prstGeom prst="rect">
            <a:avLst/>
          </a:prstGeom>
          <a:noFill/>
        </p:spPr>
        <p:txBody>
          <a:bodyPr wrap="square" anchor="ctr">
            <a:spAutoFit/>
          </a:bodyPr>
          <a:lstStyle/>
          <a:p>
            <a:pPr algn="ctr"/>
            <a:r>
              <a:rPr lang="en-US" altLang="zh-TW" sz="3600" b="0" i="0" u="sng" dirty="0">
                <a:effectLst/>
                <a:hlinkClick r:id="rId3" tooltip="http://woms.c1ydeh.net/"/>
              </a:rPr>
              <a:t>http://woms.c1ydeh.net/</a:t>
            </a:r>
            <a:endParaRPr lang="zh-TW" altLang="en-US" sz="3600" dirty="0"/>
          </a:p>
        </p:txBody>
      </p:sp>
    </p:spTree>
    <p:extLst>
      <p:ext uri="{BB962C8B-B14F-4D97-AF65-F5344CB8AC3E}">
        <p14:creationId xmlns:p14="http://schemas.microsoft.com/office/powerpoint/2010/main" val="423922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latin typeface="Calibri" panose="020F0502020204030204" pitchFamily="34" charset="0"/>
              <a:cs typeface="Calibri" panose="020F0502020204030204" pitchFamily="34" charset="0"/>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defRPr sz="2400" b="1">
                <a:solidFill>
                  <a:srgbClr val="172033"/>
                </a:solidFill>
                <a:latin typeface="Times New Roman"/>
                <a:ea typeface="Times New Roman"/>
                <a:cs typeface="Times New Roman"/>
              </a:defRPr>
            </a:pPr>
            <a:r>
              <a:rPr lang="en-US" altLang="zh-TW" sz="3200" b="1" dirty="0">
                <a:solidFill>
                  <a:srgbClr val="172033"/>
                </a:solidFill>
                <a:latin typeface="Calibri" panose="020F0502020204030204" pitchFamily="34" charset="0"/>
                <a:ea typeface="Calibri"/>
                <a:cs typeface="Calibri" panose="020F0502020204030204" pitchFamily="34" charset="0"/>
              </a:rPr>
              <a:t>Conclusion: What WOMS Achieves</a:t>
            </a: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latin typeface="Calibri" panose="020F0502020204030204" pitchFamily="34" charset="0"/>
              <a:cs typeface="Calibri" panose="020F0502020204030204" pitchFamily="34" charset="0"/>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Calibri" panose="020F0502020204030204" pitchFamily="34" charset="0"/>
                <a:ea typeface="Arial"/>
                <a:cs typeface="Calibri" panose="020F0502020204030204" pitchFamily="34" charset="0"/>
              </a:rPr>
              <a:t>1</a:t>
            </a:r>
            <a:r>
              <a:rPr lang="en-US" altLang="zh-TW" sz="900" b="0" dirty="0">
                <a:solidFill>
                  <a:srgbClr val="5C6678"/>
                </a:solidFill>
                <a:latin typeface="Calibri" panose="020F0502020204030204" pitchFamily="34" charset="0"/>
                <a:ea typeface="Arial"/>
                <a:cs typeface="Calibri" panose="020F0502020204030204" pitchFamily="34" charset="0"/>
              </a:rPr>
              <a:t>5</a:t>
            </a:r>
            <a:endParaRPr sz="900" b="0" dirty="0">
              <a:solidFill>
                <a:srgbClr val="5C6678"/>
              </a:solidFill>
              <a:latin typeface="Calibri" panose="020F0502020204030204" pitchFamily="34" charset="0"/>
              <a:ea typeface="Arial"/>
              <a:cs typeface="Calibri" panose="020F0502020204030204" pitchFamily="34" charset="0"/>
            </a:endParaRPr>
          </a:p>
        </p:txBody>
      </p:sp>
      <p:sp>
        <p:nvSpPr>
          <p:cNvPr id="68" name="矩形 67">
            <a:extLst>
              <a:ext uri="{FF2B5EF4-FFF2-40B4-BE49-F238E27FC236}">
                <a16:creationId xmlns:a16="http://schemas.microsoft.com/office/drawing/2014/main" id="{0D913454-3A29-4209-B5D3-61466091DF26}"/>
              </a:ext>
            </a:extLst>
          </p:cNvPr>
          <p:cNvSpPr>
            <a:spLocks noGrp="1"/>
          </p:cNvSpPr>
          <p:nvPr/>
        </p:nvSpPr>
        <p:spPr>
          <a:xfrm>
            <a:off x="533303" y="6076853"/>
            <a:ext cx="11125393"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dirty="0">
                <a:latin typeface="Calibri" panose="020F0502020204030204" pitchFamily="34" charset="0"/>
                <a:ea typeface="Calibri"/>
                <a:cs typeface="Calibri" panose="020F0502020204030204" pitchFamily="34" charset="0"/>
              </a:rPr>
              <a:t>Conclusion: </a:t>
            </a:r>
            <a:r>
              <a:rPr lang="en-US" sz="2000" dirty="0">
                <a:latin typeface="Calibri" panose="020F0502020204030204" pitchFamily="34" charset="0"/>
                <a:ea typeface="Calibri"/>
                <a:cs typeface="Calibri" panose="020F0502020204030204" pitchFamily="34" charset="0"/>
              </a:rPr>
              <a:t>Our W</a:t>
            </a:r>
            <a:r>
              <a:rPr sz="2000" dirty="0">
                <a:latin typeface="Calibri" panose="020F0502020204030204" pitchFamily="34" charset="0"/>
                <a:ea typeface="Calibri"/>
                <a:cs typeface="Calibri" panose="020F0502020204030204" pitchFamily="34" charset="0"/>
              </a:rPr>
              <a:t>OMS meets the requir</a:t>
            </a:r>
            <a:r>
              <a:rPr lang="en-US" sz="2000" dirty="0">
                <a:latin typeface="Calibri" panose="020F0502020204030204" pitchFamily="34" charset="0"/>
                <a:ea typeface="Calibri"/>
                <a:cs typeface="Calibri" panose="020F0502020204030204" pitchFamily="34" charset="0"/>
              </a:rPr>
              <a:t>ements </a:t>
            </a:r>
            <a:r>
              <a:rPr sz="2000" dirty="0">
                <a:latin typeface="Calibri" panose="020F0502020204030204" pitchFamily="34" charset="0"/>
                <a:ea typeface="Calibri"/>
                <a:cs typeface="Calibri" panose="020F0502020204030204" pitchFamily="34" charset="0"/>
              </a:rPr>
              <a:t>with deployable,</a:t>
            </a:r>
            <a:r>
              <a:rPr lang="en-US" sz="2000" dirty="0">
                <a:latin typeface="Calibri" panose="020F0502020204030204" pitchFamily="34" charset="0"/>
                <a:ea typeface="Calibri"/>
                <a:cs typeface="Calibri" panose="020F0502020204030204" pitchFamily="34" charset="0"/>
              </a:rPr>
              <a:t> </a:t>
            </a:r>
            <a:r>
              <a:rPr sz="2000" dirty="0">
                <a:latin typeface="Calibri" panose="020F0502020204030204" pitchFamily="34" charset="0"/>
                <a:ea typeface="Calibri"/>
                <a:cs typeface="Calibri" panose="020F0502020204030204" pitchFamily="34" charset="0"/>
              </a:rPr>
              <a:t>testable cloud-native</a:t>
            </a:r>
            <a:r>
              <a:rPr lang="zh-TW" altLang="en-US" sz="2000" dirty="0">
                <a:latin typeface="Calibri" panose="020F0502020204030204" pitchFamily="34" charset="0"/>
                <a:ea typeface="Calibri"/>
                <a:cs typeface="Calibri" panose="020F0502020204030204" pitchFamily="34" charset="0"/>
              </a:rPr>
              <a:t> </a:t>
            </a:r>
            <a:r>
              <a:rPr sz="2000" dirty="0">
                <a:latin typeface="Calibri" panose="020F0502020204030204" pitchFamily="34" charset="0"/>
                <a:ea typeface="Calibri"/>
                <a:cs typeface="Calibri" panose="020F0502020204030204" pitchFamily="34" charset="0"/>
              </a:rPr>
              <a:t>implementation.</a:t>
            </a:r>
          </a:p>
        </p:txBody>
      </p:sp>
      <p:pic>
        <p:nvPicPr>
          <p:cNvPr id="39" name="圖片 38">
            <a:extLst>
              <a:ext uri="{FF2B5EF4-FFF2-40B4-BE49-F238E27FC236}">
                <a16:creationId xmlns:a16="http://schemas.microsoft.com/office/drawing/2014/main" id="{D95D155E-64C5-4751-AD90-CF30759F61D3}"/>
              </a:ext>
            </a:extLst>
          </p:cNvPr>
          <p:cNvPicPr>
            <a:picLocks noChangeAspect="1"/>
          </p:cNvPicPr>
          <p:nvPr/>
        </p:nvPicPr>
        <p:blipFill>
          <a:blip r:embed="rId3"/>
          <a:stretch>
            <a:fillRect/>
          </a:stretch>
        </p:blipFill>
        <p:spPr>
          <a:xfrm>
            <a:off x="533303" y="1450356"/>
            <a:ext cx="6834974" cy="4319141"/>
          </a:xfrm>
          <a:prstGeom prst="rect">
            <a:avLst/>
          </a:prstGeom>
        </p:spPr>
      </p:pic>
      <p:sp>
        <p:nvSpPr>
          <p:cNvPr id="40" name="Text 39">
            <a:extLst>
              <a:ext uri="{FF2B5EF4-FFF2-40B4-BE49-F238E27FC236}">
                <a16:creationId xmlns:a16="http://schemas.microsoft.com/office/drawing/2014/main" id="{CDCC0B87-178F-4922-AC80-4152E9324C59}"/>
              </a:ext>
            </a:extLst>
          </p:cNvPr>
          <p:cNvSpPr/>
          <p:nvPr/>
        </p:nvSpPr>
        <p:spPr>
          <a:xfrm>
            <a:off x="7482840" y="1358219"/>
            <a:ext cx="3337560" cy="236982"/>
          </a:xfrm>
          <a:prstGeom prst="rect">
            <a:avLst/>
          </a:prstGeom>
          <a:noFill/>
          <a:ln/>
        </p:spPr>
        <p:txBody>
          <a:bodyPr wrap="square" rtlCol="0" anchor="ctr"/>
          <a:lstStyle/>
          <a:p>
            <a:pPr marL="0" indent="0">
              <a:buNone/>
            </a:pPr>
            <a:r>
              <a:rPr lang="en-US" sz="1700" b="1" dirty="0">
                <a:solidFill>
                  <a:srgbClr val="1D2A35"/>
                </a:solidFill>
                <a:latin typeface="Calibri" panose="020F0502020204030204" pitchFamily="34" charset="0"/>
                <a:ea typeface="Arial Narrow" pitchFamily="34" charset="-122"/>
                <a:cs typeface="Calibri" panose="020F0502020204030204" pitchFamily="34" charset="0"/>
              </a:rPr>
              <a:t>Evaluation Criteria</a:t>
            </a:r>
            <a:endParaRPr lang="en-US" sz="1700" dirty="0">
              <a:latin typeface="Calibri" panose="020F0502020204030204" pitchFamily="34" charset="0"/>
              <a:cs typeface="Calibri" panose="020F0502020204030204" pitchFamily="34" charset="0"/>
            </a:endParaRPr>
          </a:p>
        </p:txBody>
      </p:sp>
      <p:sp>
        <p:nvSpPr>
          <p:cNvPr id="41" name="Shape 40">
            <a:extLst>
              <a:ext uri="{FF2B5EF4-FFF2-40B4-BE49-F238E27FC236}">
                <a16:creationId xmlns:a16="http://schemas.microsoft.com/office/drawing/2014/main" id="{46F77AFF-49C8-4934-88F0-A8F7B84D9E36}"/>
              </a:ext>
            </a:extLst>
          </p:cNvPr>
          <p:cNvSpPr/>
          <p:nvPr/>
        </p:nvSpPr>
        <p:spPr>
          <a:xfrm>
            <a:off x="7482840" y="1796382"/>
            <a:ext cx="3337560" cy="680842"/>
          </a:xfrm>
          <a:prstGeom prst="roundRect">
            <a:avLst>
              <a:gd name="adj" fmla="val 12727"/>
            </a:avLst>
          </a:prstGeom>
          <a:solidFill>
            <a:srgbClr val="E8F2FA"/>
          </a:solidFill>
          <a:ln w="8890">
            <a:solidFill>
              <a:srgbClr val="93AFC5"/>
            </a:solidFill>
            <a:prstDash val="solid"/>
          </a:ln>
        </p:spPr>
        <p:txBody>
          <a:bodyPr/>
          <a:lstStyle/>
          <a:p>
            <a:endParaRPr lang="zh-TW" altLang="en-US">
              <a:latin typeface="Calibri" panose="020F0502020204030204" pitchFamily="34" charset="0"/>
              <a:cs typeface="Calibri" panose="020F0502020204030204" pitchFamily="34" charset="0"/>
            </a:endParaRPr>
          </a:p>
        </p:txBody>
      </p:sp>
      <p:sp>
        <p:nvSpPr>
          <p:cNvPr id="42" name="Text 42">
            <a:extLst>
              <a:ext uri="{FF2B5EF4-FFF2-40B4-BE49-F238E27FC236}">
                <a16:creationId xmlns:a16="http://schemas.microsoft.com/office/drawing/2014/main" id="{B250D166-8673-4478-9696-A33D485A57AC}"/>
              </a:ext>
            </a:extLst>
          </p:cNvPr>
          <p:cNvSpPr/>
          <p:nvPr/>
        </p:nvSpPr>
        <p:spPr>
          <a:xfrm>
            <a:off x="7645825" y="1848357"/>
            <a:ext cx="3166871" cy="174755"/>
          </a:xfrm>
          <a:prstGeom prst="rect">
            <a:avLst/>
          </a:prstGeom>
          <a:noFill/>
          <a:ln/>
        </p:spPr>
        <p:txBody>
          <a:bodyPr wrap="square" lIns="0" tIns="0" rIns="0" bIns="0" rtlCol="0" anchor="ctr"/>
          <a:lstStyle/>
          <a:p>
            <a:pPr marL="0" indent="0">
              <a:buNone/>
            </a:pPr>
            <a:r>
              <a:rPr lang="en-US" sz="1200" b="1" dirty="0">
                <a:solidFill>
                  <a:srgbClr val="1D2A35"/>
                </a:solidFill>
                <a:latin typeface="Calibri" panose="020F0502020204030204" pitchFamily="34" charset="0"/>
                <a:cs typeface="Calibri" panose="020F0502020204030204" pitchFamily="34" charset="0"/>
              </a:rPr>
              <a:t>Requirement and Implementation</a:t>
            </a:r>
            <a:endParaRPr lang="en-US" sz="1200" dirty="0">
              <a:latin typeface="Calibri" panose="020F0502020204030204" pitchFamily="34" charset="0"/>
              <a:cs typeface="Calibri" panose="020F0502020204030204" pitchFamily="34" charset="0"/>
            </a:endParaRPr>
          </a:p>
        </p:txBody>
      </p:sp>
      <p:sp>
        <p:nvSpPr>
          <p:cNvPr id="45" name="Text 43">
            <a:extLst>
              <a:ext uri="{FF2B5EF4-FFF2-40B4-BE49-F238E27FC236}">
                <a16:creationId xmlns:a16="http://schemas.microsoft.com/office/drawing/2014/main" id="{1B86AF0A-DB30-4BAE-A583-4FE48965CE73}"/>
              </a:ext>
            </a:extLst>
          </p:cNvPr>
          <p:cNvSpPr/>
          <p:nvPr/>
        </p:nvSpPr>
        <p:spPr>
          <a:xfrm>
            <a:off x="7649034" y="2026582"/>
            <a:ext cx="3051047" cy="332316"/>
          </a:xfrm>
          <a:prstGeom prst="rect">
            <a:avLst/>
          </a:prstGeom>
          <a:noFill/>
          <a:ln/>
        </p:spPr>
        <p:txBody>
          <a:bodyPr wrap="square" lIns="0" tIns="0" rIns="0" bIns="0" rtlCol="0" anchor="ctr">
            <a:noAutofit/>
          </a:bodyPr>
          <a:lstStyle/>
          <a:p>
            <a:pPr marL="0" indent="0">
              <a:buNone/>
            </a:pPr>
            <a:r>
              <a:rPr lang="en-US" sz="1200" dirty="0">
                <a:solidFill>
                  <a:srgbClr val="1D2A35"/>
                </a:solidFill>
                <a:latin typeface="Calibri" panose="020F0502020204030204" pitchFamily="34" charset="0"/>
                <a:cs typeface="Calibri" panose="020F0502020204030204" pitchFamily="34" charset="0"/>
              </a:rPr>
              <a:t>Demo shows Sales/Scheduler workflows</a:t>
            </a:r>
            <a:endParaRPr lang="en-US" sz="1200" dirty="0">
              <a:latin typeface="Calibri" panose="020F0502020204030204" pitchFamily="34" charset="0"/>
              <a:cs typeface="Calibri" panose="020F0502020204030204" pitchFamily="34" charset="0"/>
            </a:endParaRPr>
          </a:p>
        </p:txBody>
      </p:sp>
      <p:sp>
        <p:nvSpPr>
          <p:cNvPr id="49" name="Shape 44">
            <a:extLst>
              <a:ext uri="{FF2B5EF4-FFF2-40B4-BE49-F238E27FC236}">
                <a16:creationId xmlns:a16="http://schemas.microsoft.com/office/drawing/2014/main" id="{1434DE10-6462-47F4-8AE5-A56FB325C54F}"/>
              </a:ext>
            </a:extLst>
          </p:cNvPr>
          <p:cNvSpPr/>
          <p:nvPr/>
        </p:nvSpPr>
        <p:spPr>
          <a:xfrm>
            <a:off x="7482840" y="4280773"/>
            <a:ext cx="3337560" cy="680842"/>
          </a:xfrm>
          <a:prstGeom prst="roundRect">
            <a:avLst>
              <a:gd name="adj" fmla="val 12727"/>
            </a:avLst>
          </a:prstGeom>
          <a:solidFill>
            <a:srgbClr val="E8F2FA"/>
          </a:solidFill>
          <a:ln w="8890">
            <a:solidFill>
              <a:srgbClr val="93AFC5"/>
            </a:solidFill>
            <a:prstDash val="solid"/>
          </a:ln>
        </p:spPr>
        <p:txBody>
          <a:bodyPr/>
          <a:lstStyle/>
          <a:p>
            <a:endParaRPr lang="zh-TW" altLang="en-US">
              <a:latin typeface="Calibri" panose="020F0502020204030204" pitchFamily="34" charset="0"/>
              <a:cs typeface="Calibri" panose="020F0502020204030204" pitchFamily="34" charset="0"/>
            </a:endParaRPr>
          </a:p>
        </p:txBody>
      </p:sp>
      <p:sp>
        <p:nvSpPr>
          <p:cNvPr id="50" name="Shape 48">
            <a:extLst>
              <a:ext uri="{FF2B5EF4-FFF2-40B4-BE49-F238E27FC236}">
                <a16:creationId xmlns:a16="http://schemas.microsoft.com/office/drawing/2014/main" id="{70727CBF-9F19-48C8-ABF2-93B091AF9216}"/>
              </a:ext>
            </a:extLst>
          </p:cNvPr>
          <p:cNvSpPr/>
          <p:nvPr/>
        </p:nvSpPr>
        <p:spPr>
          <a:xfrm>
            <a:off x="7482840" y="3429000"/>
            <a:ext cx="3337560" cy="680842"/>
          </a:xfrm>
          <a:prstGeom prst="roundRect">
            <a:avLst>
              <a:gd name="adj" fmla="val 12727"/>
            </a:avLst>
          </a:prstGeom>
          <a:solidFill>
            <a:srgbClr val="E8F2FA"/>
          </a:solidFill>
          <a:ln w="8890">
            <a:solidFill>
              <a:srgbClr val="93AFC5"/>
            </a:solidFill>
            <a:prstDash val="solid"/>
          </a:ln>
        </p:spPr>
        <p:txBody>
          <a:bodyPr/>
          <a:lstStyle/>
          <a:p>
            <a:endParaRPr lang="zh-TW" altLang="en-US" dirty="0">
              <a:latin typeface="Calibri" panose="020F0502020204030204" pitchFamily="34" charset="0"/>
              <a:cs typeface="Calibri" panose="020F0502020204030204" pitchFamily="34" charset="0"/>
            </a:endParaRPr>
          </a:p>
        </p:txBody>
      </p:sp>
      <p:sp>
        <p:nvSpPr>
          <p:cNvPr id="51" name="Shape 52">
            <a:extLst>
              <a:ext uri="{FF2B5EF4-FFF2-40B4-BE49-F238E27FC236}">
                <a16:creationId xmlns:a16="http://schemas.microsoft.com/office/drawing/2014/main" id="{C90B1640-E610-446C-AFCB-BC06F3775890}"/>
              </a:ext>
            </a:extLst>
          </p:cNvPr>
          <p:cNvSpPr/>
          <p:nvPr/>
        </p:nvSpPr>
        <p:spPr>
          <a:xfrm>
            <a:off x="7482840" y="2613807"/>
            <a:ext cx="3337560" cy="680842"/>
          </a:xfrm>
          <a:prstGeom prst="roundRect">
            <a:avLst>
              <a:gd name="adj" fmla="val 12727"/>
            </a:avLst>
          </a:prstGeom>
          <a:solidFill>
            <a:srgbClr val="E8F2FA"/>
          </a:solidFill>
          <a:ln w="8890">
            <a:solidFill>
              <a:srgbClr val="93AFC5"/>
            </a:solidFill>
            <a:prstDash val="solid"/>
          </a:ln>
        </p:spPr>
        <p:txBody>
          <a:bodyPr/>
          <a:lstStyle/>
          <a:p>
            <a:endParaRPr lang="zh-TW" altLang="en-US">
              <a:latin typeface="Calibri" panose="020F0502020204030204" pitchFamily="34" charset="0"/>
              <a:cs typeface="Calibri" panose="020F0502020204030204" pitchFamily="34" charset="0"/>
            </a:endParaRPr>
          </a:p>
        </p:txBody>
      </p:sp>
      <p:sp>
        <p:nvSpPr>
          <p:cNvPr id="53" name="Text 54">
            <a:extLst>
              <a:ext uri="{FF2B5EF4-FFF2-40B4-BE49-F238E27FC236}">
                <a16:creationId xmlns:a16="http://schemas.microsoft.com/office/drawing/2014/main" id="{D71BD6CF-2CE0-4FFC-B0C0-0C2AEC673F22}"/>
              </a:ext>
            </a:extLst>
          </p:cNvPr>
          <p:cNvSpPr/>
          <p:nvPr/>
        </p:nvSpPr>
        <p:spPr>
          <a:xfrm>
            <a:off x="7669890" y="2665782"/>
            <a:ext cx="1718503" cy="222821"/>
          </a:xfrm>
          <a:prstGeom prst="rect">
            <a:avLst/>
          </a:prstGeom>
          <a:noFill/>
          <a:ln/>
        </p:spPr>
        <p:txBody>
          <a:bodyPr wrap="square" lIns="0" tIns="0" rIns="0" bIns="0" rtlCol="0" anchor="ctr"/>
          <a:lstStyle/>
          <a:p>
            <a:pPr marL="0" indent="0">
              <a:buNone/>
            </a:pPr>
            <a:r>
              <a:rPr lang="en-US" sz="1200" b="1" dirty="0">
                <a:solidFill>
                  <a:srgbClr val="1D2A35"/>
                </a:solidFill>
                <a:latin typeface="Calibri" panose="020F0502020204030204" pitchFamily="34" charset="0"/>
                <a:cs typeface="Calibri" panose="020F0502020204030204" pitchFamily="34" charset="0"/>
              </a:rPr>
              <a:t>Code quality</a:t>
            </a:r>
            <a:endParaRPr lang="en-US" sz="1200" dirty="0">
              <a:latin typeface="Calibri" panose="020F0502020204030204" pitchFamily="34" charset="0"/>
              <a:cs typeface="Calibri" panose="020F0502020204030204" pitchFamily="34" charset="0"/>
            </a:endParaRPr>
          </a:p>
        </p:txBody>
      </p:sp>
      <p:sp>
        <p:nvSpPr>
          <p:cNvPr id="54" name="Text 55">
            <a:extLst>
              <a:ext uri="{FF2B5EF4-FFF2-40B4-BE49-F238E27FC236}">
                <a16:creationId xmlns:a16="http://schemas.microsoft.com/office/drawing/2014/main" id="{231F9509-743E-48BB-AF5D-F96B6D661C3D}"/>
              </a:ext>
            </a:extLst>
          </p:cNvPr>
          <p:cNvSpPr/>
          <p:nvPr/>
        </p:nvSpPr>
        <p:spPr>
          <a:xfrm>
            <a:off x="7669888" y="2882811"/>
            <a:ext cx="2994512" cy="230692"/>
          </a:xfrm>
          <a:prstGeom prst="rect">
            <a:avLst/>
          </a:prstGeom>
          <a:noFill/>
          <a:ln/>
        </p:spPr>
        <p:txBody>
          <a:bodyPr wrap="square" lIns="0" tIns="0" rIns="0" bIns="0" rtlCol="0" anchor="ctr">
            <a:noAutofit/>
          </a:bodyPr>
          <a:lstStyle/>
          <a:p>
            <a:r>
              <a:rPr lang="en-US" sz="1200" i="1" dirty="0" err="1">
                <a:solidFill>
                  <a:srgbClr val="1D2A35"/>
                </a:solidFill>
                <a:latin typeface="Calibri" panose="020F0502020204030204" pitchFamily="34" charset="0"/>
                <a:cs typeface="Calibri" panose="020F0502020204030204" pitchFamily="34" charset="0"/>
              </a:rPr>
              <a:t>G</a:t>
            </a:r>
            <a:r>
              <a:rPr lang="en-US" altLang="zh-TW" sz="1200" i="1" dirty="0" err="1">
                <a:latin typeface="Calibri" panose="020F0502020204030204" pitchFamily="34" charset="0"/>
                <a:cs typeface="Calibri" panose="020F0502020204030204" pitchFamily="34" charset="0"/>
              </a:rPr>
              <a:t>ofmt</a:t>
            </a:r>
            <a:r>
              <a:rPr lang="en-US" sz="1200" dirty="0">
                <a:solidFill>
                  <a:srgbClr val="1D2A35"/>
                </a:solidFill>
                <a:latin typeface="Calibri" panose="020F0502020204030204" pitchFamily="34" charset="0"/>
                <a:cs typeface="Calibri" panose="020F0502020204030204" pitchFamily="34" charset="0"/>
              </a:rPr>
              <a:t>, </a:t>
            </a:r>
            <a:r>
              <a:rPr lang="en-US" altLang="zh-TW" sz="1200" dirty="0">
                <a:latin typeface="Calibri" panose="020F0502020204030204" pitchFamily="34" charset="0"/>
                <a:cs typeface="Calibri" panose="020F0502020204030204" pitchFamily="34" charset="0"/>
              </a:rPr>
              <a:t>Clear Go package layering, </a:t>
            </a:r>
            <a:r>
              <a:rPr lang="en-US" sz="1200" dirty="0">
                <a:solidFill>
                  <a:srgbClr val="1D2A35"/>
                </a:solidFill>
                <a:latin typeface="Calibri" panose="020F0502020204030204" pitchFamily="34" charset="0"/>
                <a:cs typeface="Calibri" panose="020F0502020204030204" pitchFamily="34" charset="0"/>
              </a:rPr>
              <a:t>and Git</a:t>
            </a:r>
            <a:endParaRPr lang="en-US" sz="1200" dirty="0">
              <a:latin typeface="Calibri" panose="020F0502020204030204" pitchFamily="34" charset="0"/>
              <a:cs typeface="Calibri" panose="020F0502020204030204" pitchFamily="34" charset="0"/>
            </a:endParaRPr>
          </a:p>
        </p:txBody>
      </p:sp>
      <p:sp>
        <p:nvSpPr>
          <p:cNvPr id="55" name="Shape 56">
            <a:extLst>
              <a:ext uri="{FF2B5EF4-FFF2-40B4-BE49-F238E27FC236}">
                <a16:creationId xmlns:a16="http://schemas.microsoft.com/office/drawing/2014/main" id="{14576D34-CDA3-4ECA-8D7D-B90D5EA4EFD3}"/>
              </a:ext>
            </a:extLst>
          </p:cNvPr>
          <p:cNvSpPr/>
          <p:nvPr/>
        </p:nvSpPr>
        <p:spPr>
          <a:xfrm>
            <a:off x="7482840" y="5088655"/>
            <a:ext cx="3337560" cy="680842"/>
          </a:xfrm>
          <a:prstGeom prst="roundRect">
            <a:avLst>
              <a:gd name="adj" fmla="val 12727"/>
            </a:avLst>
          </a:prstGeom>
          <a:solidFill>
            <a:srgbClr val="E8F2FA"/>
          </a:solidFill>
          <a:ln w="8890">
            <a:solidFill>
              <a:srgbClr val="93AFC5"/>
            </a:solidFill>
            <a:prstDash val="solid"/>
          </a:ln>
        </p:spPr>
        <p:txBody>
          <a:bodyPr/>
          <a:lstStyle/>
          <a:p>
            <a:endParaRPr lang="zh-TW" altLang="en-US">
              <a:latin typeface="Calibri" panose="020F0502020204030204" pitchFamily="34" charset="0"/>
              <a:cs typeface="Calibri" panose="020F0502020204030204" pitchFamily="34" charset="0"/>
            </a:endParaRPr>
          </a:p>
        </p:txBody>
      </p:sp>
      <p:sp>
        <p:nvSpPr>
          <p:cNvPr id="57" name="Text 58">
            <a:extLst>
              <a:ext uri="{FF2B5EF4-FFF2-40B4-BE49-F238E27FC236}">
                <a16:creationId xmlns:a16="http://schemas.microsoft.com/office/drawing/2014/main" id="{B3AE8C2F-5F95-4F5F-AF1A-1AB46B183026}"/>
              </a:ext>
            </a:extLst>
          </p:cNvPr>
          <p:cNvSpPr/>
          <p:nvPr/>
        </p:nvSpPr>
        <p:spPr>
          <a:xfrm>
            <a:off x="7669890" y="5104534"/>
            <a:ext cx="1718503" cy="222821"/>
          </a:xfrm>
          <a:prstGeom prst="rect">
            <a:avLst/>
          </a:prstGeom>
          <a:noFill/>
          <a:ln/>
        </p:spPr>
        <p:txBody>
          <a:bodyPr wrap="square" lIns="0" tIns="0" rIns="0" bIns="0" rtlCol="0" anchor="ctr"/>
          <a:lstStyle/>
          <a:p>
            <a:pPr marL="0" indent="0">
              <a:buNone/>
            </a:pPr>
            <a:r>
              <a:rPr lang="en-US" sz="1200" b="1" dirty="0">
                <a:solidFill>
                  <a:srgbClr val="1D2A35"/>
                </a:solidFill>
                <a:latin typeface="Calibri" panose="020F0502020204030204" pitchFamily="34" charset="0"/>
                <a:cs typeface="Calibri" panose="020F0502020204030204" pitchFamily="34" charset="0"/>
              </a:rPr>
              <a:t>Operation and Reliability</a:t>
            </a:r>
            <a:endParaRPr lang="en-US" sz="1200" dirty="0">
              <a:latin typeface="Calibri" panose="020F0502020204030204" pitchFamily="34" charset="0"/>
              <a:cs typeface="Calibri" panose="020F0502020204030204" pitchFamily="34" charset="0"/>
            </a:endParaRPr>
          </a:p>
        </p:txBody>
      </p:sp>
      <p:sp>
        <p:nvSpPr>
          <p:cNvPr id="61" name="Text 59">
            <a:extLst>
              <a:ext uri="{FF2B5EF4-FFF2-40B4-BE49-F238E27FC236}">
                <a16:creationId xmlns:a16="http://schemas.microsoft.com/office/drawing/2014/main" id="{5EB0A935-4B9C-43C0-AC12-FCAB45C3C115}"/>
              </a:ext>
            </a:extLst>
          </p:cNvPr>
          <p:cNvSpPr/>
          <p:nvPr/>
        </p:nvSpPr>
        <p:spPr>
          <a:xfrm>
            <a:off x="7669889" y="5381760"/>
            <a:ext cx="2994512" cy="230692"/>
          </a:xfrm>
          <a:prstGeom prst="rect">
            <a:avLst/>
          </a:prstGeom>
          <a:noFill/>
          <a:ln/>
        </p:spPr>
        <p:txBody>
          <a:bodyPr wrap="square" lIns="0" tIns="0" rIns="0" bIns="0" rtlCol="0" anchor="ctr">
            <a:noAutofit/>
          </a:bodyPr>
          <a:lstStyle/>
          <a:p>
            <a:r>
              <a:rPr lang="en-US" altLang="zh-TW" sz="1200" dirty="0">
                <a:solidFill>
                  <a:srgbClr val="172033"/>
                </a:solidFill>
                <a:latin typeface="Calibri" panose="020F0502020204030204" pitchFamily="34" charset="0"/>
                <a:cs typeface="Calibri" panose="020F0502020204030204" pitchFamily="34" charset="0"/>
              </a:rPr>
              <a:t>Grafana</a:t>
            </a:r>
            <a:r>
              <a:rPr lang="en-US" altLang="zh-TW" sz="1200" dirty="0">
                <a:solidFill>
                  <a:srgbClr val="1D2A35"/>
                </a:solidFill>
                <a:latin typeface="Calibri" panose="020F0502020204030204" pitchFamily="34" charset="0"/>
                <a:cs typeface="Calibri" panose="020F0502020204030204" pitchFamily="34" charset="0"/>
              </a:rPr>
              <a:t>/</a:t>
            </a:r>
            <a:r>
              <a:rPr lang="en-US" altLang="zh-TW" sz="1200" kern="0" dirty="0">
                <a:latin typeface="Calibri" panose="020F0502020204030204" pitchFamily="34" charset="0"/>
                <a:cs typeface="Calibri" panose="020F0502020204030204" pitchFamily="34" charset="0"/>
              </a:rPr>
              <a:t>Prometheus observe KEDA/HPA</a:t>
            </a:r>
            <a:endParaRPr lang="en-US" altLang="zh-TW" sz="1200" i="1" kern="0" dirty="0">
              <a:latin typeface="Calibri" panose="020F0502020204030204" pitchFamily="34" charset="0"/>
              <a:cs typeface="Calibri" panose="020F0502020204030204" pitchFamily="34" charset="0"/>
            </a:endParaRPr>
          </a:p>
          <a:p>
            <a:r>
              <a:rPr lang="fr-FR" altLang="zh-TW" sz="1200" i="1" dirty="0">
                <a:latin typeface="Calibri" panose="020F0502020204030204" pitchFamily="34" charset="0"/>
                <a:cs typeface="Calibri" panose="020F0502020204030204" pitchFamily="34" charset="0"/>
              </a:rPr>
              <a:t>Redis lock</a:t>
            </a:r>
            <a:r>
              <a:rPr lang="en-US" altLang="zh-TW" sz="1200" i="1" dirty="0">
                <a:latin typeface="Calibri" panose="020F0502020204030204" pitchFamily="34" charset="0"/>
                <a:cs typeface="Calibri" panose="020F0502020204030204" pitchFamily="34" charset="0"/>
              </a:rPr>
              <a:t>,</a:t>
            </a:r>
            <a:r>
              <a:rPr lang="fr-FR" altLang="zh-TW" sz="1200" i="1" dirty="0">
                <a:latin typeface="Calibri" panose="020F0502020204030204" pitchFamily="34" charset="0"/>
                <a:cs typeface="Calibri" panose="020F0502020204030204" pitchFamily="34" charset="0"/>
              </a:rPr>
              <a:t> </a:t>
            </a:r>
            <a:r>
              <a:rPr lang="en-US" altLang="zh-TW" sz="1200" i="1" dirty="0">
                <a:latin typeface="Calibri" panose="020F0502020204030204" pitchFamily="34" charset="0"/>
                <a:cs typeface="Calibri" panose="020F0502020204030204" pitchFamily="34" charset="0"/>
              </a:rPr>
              <a:t>Docker Hub release, Helm rollout </a:t>
            </a:r>
            <a:endParaRPr lang="en-US" sz="1200" dirty="0">
              <a:latin typeface="Calibri" panose="020F0502020204030204" pitchFamily="34" charset="0"/>
              <a:cs typeface="Calibri" panose="020F0502020204030204" pitchFamily="34" charset="0"/>
            </a:endParaRPr>
          </a:p>
        </p:txBody>
      </p:sp>
      <p:sp>
        <p:nvSpPr>
          <p:cNvPr id="69" name="Text 46">
            <a:extLst>
              <a:ext uri="{FF2B5EF4-FFF2-40B4-BE49-F238E27FC236}">
                <a16:creationId xmlns:a16="http://schemas.microsoft.com/office/drawing/2014/main" id="{35D530DF-561A-4C6C-8EA6-89699BA9271A}"/>
              </a:ext>
            </a:extLst>
          </p:cNvPr>
          <p:cNvSpPr/>
          <p:nvPr/>
        </p:nvSpPr>
        <p:spPr>
          <a:xfrm>
            <a:off x="7669890" y="3489011"/>
            <a:ext cx="2076306" cy="158650"/>
          </a:xfrm>
          <a:prstGeom prst="rect">
            <a:avLst/>
          </a:prstGeom>
          <a:noFill/>
          <a:ln/>
        </p:spPr>
        <p:txBody>
          <a:bodyPr wrap="square" lIns="0" tIns="0" rIns="0" bIns="0" rtlCol="0" anchor="ctr"/>
          <a:lstStyle/>
          <a:p>
            <a:pPr marL="0" indent="0">
              <a:buNone/>
            </a:pPr>
            <a:r>
              <a:rPr lang="en-US" sz="1200" b="1" dirty="0">
                <a:solidFill>
                  <a:srgbClr val="1D2A35"/>
                </a:solidFill>
                <a:latin typeface="Calibri" panose="020F0502020204030204" pitchFamily="34" charset="0"/>
                <a:cs typeface="Calibri" panose="020F0502020204030204" pitchFamily="34" charset="0"/>
              </a:rPr>
              <a:t>Architecture</a:t>
            </a:r>
            <a:r>
              <a:rPr lang="zh-TW" altLang="en-US" sz="1200" b="1" dirty="0">
                <a:solidFill>
                  <a:srgbClr val="1D2A35"/>
                </a:solidFill>
                <a:latin typeface="Calibri" panose="020F0502020204030204" pitchFamily="34" charset="0"/>
                <a:cs typeface="Calibri" panose="020F0502020204030204" pitchFamily="34" charset="0"/>
              </a:rPr>
              <a:t> </a:t>
            </a:r>
            <a:r>
              <a:rPr lang="en-US" altLang="zh-TW" sz="1200" b="1" dirty="0">
                <a:solidFill>
                  <a:srgbClr val="1D2A35"/>
                </a:solidFill>
                <a:latin typeface="Calibri" panose="020F0502020204030204" pitchFamily="34" charset="0"/>
                <a:cs typeface="Calibri" panose="020F0502020204030204" pitchFamily="34" charset="0"/>
              </a:rPr>
              <a:t>and Scalability</a:t>
            </a:r>
            <a:endParaRPr lang="en-US" sz="1200" dirty="0">
              <a:latin typeface="Calibri" panose="020F0502020204030204" pitchFamily="34" charset="0"/>
              <a:cs typeface="Calibri" panose="020F0502020204030204" pitchFamily="34" charset="0"/>
            </a:endParaRPr>
          </a:p>
        </p:txBody>
      </p:sp>
      <p:sp>
        <p:nvSpPr>
          <p:cNvPr id="70" name="Text 47">
            <a:extLst>
              <a:ext uri="{FF2B5EF4-FFF2-40B4-BE49-F238E27FC236}">
                <a16:creationId xmlns:a16="http://schemas.microsoft.com/office/drawing/2014/main" id="{C6D5AB4F-1D12-44F4-99D7-5E80CA70A92C}"/>
              </a:ext>
            </a:extLst>
          </p:cNvPr>
          <p:cNvSpPr/>
          <p:nvPr/>
        </p:nvSpPr>
        <p:spPr>
          <a:xfrm>
            <a:off x="7659002" y="3745357"/>
            <a:ext cx="2994512" cy="230692"/>
          </a:xfrm>
          <a:prstGeom prst="rect">
            <a:avLst/>
          </a:prstGeom>
          <a:noFill/>
          <a:ln/>
        </p:spPr>
        <p:txBody>
          <a:bodyPr wrap="square" lIns="0" tIns="0" rIns="0" bIns="0" rtlCol="0" anchor="ctr">
            <a:noAutofit/>
          </a:bodyPr>
          <a:lstStyle/>
          <a:p>
            <a:r>
              <a:rPr lang="en-US" altLang="zh-TW" sz="1200" dirty="0">
                <a:latin typeface="Calibri" panose="020F0502020204030204" pitchFamily="34" charset="0"/>
                <a:cs typeface="Calibri" panose="020F0502020204030204" pitchFamily="34" charset="0"/>
              </a:rPr>
              <a:t>GKE, Modular services, KEDA/HPA(autoscaling),</a:t>
            </a:r>
          </a:p>
          <a:p>
            <a:r>
              <a:rPr lang="en-US" altLang="zh-TW" sz="1200" dirty="0">
                <a:latin typeface="Calibri" panose="020F0502020204030204" pitchFamily="34" charset="0"/>
                <a:cs typeface="Calibri" panose="020F0502020204030204" pitchFamily="34" charset="0"/>
              </a:rPr>
              <a:t>Clear separation of responsibilities</a:t>
            </a:r>
            <a:endParaRPr lang="en-US" sz="1200" dirty="0">
              <a:latin typeface="Calibri" panose="020F0502020204030204" pitchFamily="34" charset="0"/>
              <a:cs typeface="Calibri" panose="020F0502020204030204" pitchFamily="34" charset="0"/>
            </a:endParaRPr>
          </a:p>
        </p:txBody>
      </p:sp>
      <p:sp>
        <p:nvSpPr>
          <p:cNvPr id="71" name="Text 50">
            <a:extLst>
              <a:ext uri="{FF2B5EF4-FFF2-40B4-BE49-F238E27FC236}">
                <a16:creationId xmlns:a16="http://schemas.microsoft.com/office/drawing/2014/main" id="{B9848DC1-08A1-4BF0-9F0F-B96EBE007F88}"/>
              </a:ext>
            </a:extLst>
          </p:cNvPr>
          <p:cNvSpPr/>
          <p:nvPr/>
        </p:nvSpPr>
        <p:spPr>
          <a:xfrm>
            <a:off x="7669889" y="4314513"/>
            <a:ext cx="1718503" cy="222821"/>
          </a:xfrm>
          <a:prstGeom prst="rect">
            <a:avLst/>
          </a:prstGeom>
          <a:noFill/>
          <a:ln/>
        </p:spPr>
        <p:txBody>
          <a:bodyPr wrap="square" lIns="0" tIns="0" rIns="0" bIns="0" rtlCol="0" anchor="ctr"/>
          <a:lstStyle/>
          <a:p>
            <a:pPr marL="0" indent="0">
              <a:buNone/>
            </a:pPr>
            <a:r>
              <a:rPr lang="en-US" sz="1200" b="1" dirty="0">
                <a:solidFill>
                  <a:srgbClr val="1D2A35"/>
                </a:solidFill>
                <a:latin typeface="Calibri" panose="020F0502020204030204" pitchFamily="34" charset="0"/>
                <a:cs typeface="Calibri" panose="020F0502020204030204" pitchFamily="34" charset="0"/>
              </a:rPr>
              <a:t>Testing</a:t>
            </a:r>
            <a:endParaRPr lang="en-US" sz="1200" dirty="0">
              <a:latin typeface="Calibri" panose="020F0502020204030204" pitchFamily="34" charset="0"/>
              <a:cs typeface="Calibri" panose="020F0502020204030204" pitchFamily="34" charset="0"/>
            </a:endParaRPr>
          </a:p>
        </p:txBody>
      </p:sp>
      <p:sp>
        <p:nvSpPr>
          <p:cNvPr id="72" name="Text 51">
            <a:extLst>
              <a:ext uri="{FF2B5EF4-FFF2-40B4-BE49-F238E27FC236}">
                <a16:creationId xmlns:a16="http://schemas.microsoft.com/office/drawing/2014/main" id="{1C1C8D2C-7F37-4934-86EB-5B6C252BFEFE}"/>
              </a:ext>
            </a:extLst>
          </p:cNvPr>
          <p:cNvSpPr/>
          <p:nvPr/>
        </p:nvSpPr>
        <p:spPr>
          <a:xfrm>
            <a:off x="7669888" y="4594570"/>
            <a:ext cx="2994512" cy="230692"/>
          </a:xfrm>
          <a:prstGeom prst="rect">
            <a:avLst/>
          </a:prstGeom>
          <a:noFill/>
          <a:ln/>
        </p:spPr>
        <p:txBody>
          <a:bodyPr wrap="square" lIns="0" tIns="0" rIns="0" bIns="0" rtlCol="0" anchor="ctr">
            <a:noAutofit/>
          </a:bodyPr>
          <a:lstStyle/>
          <a:p>
            <a:r>
              <a:rPr lang="en-US" altLang="zh-TW" sz="1200" i="1" dirty="0">
                <a:latin typeface="Calibri" panose="020F0502020204030204" pitchFamily="34" charset="0"/>
                <a:cs typeface="Calibri" panose="020F0502020204030204" pitchFamily="34" charset="0"/>
              </a:rPr>
              <a:t>Go tests,</a:t>
            </a:r>
            <a:r>
              <a:rPr lang="zh-TW" altLang="en-US" sz="1200" i="1" dirty="0">
                <a:latin typeface="Calibri" panose="020F0502020204030204" pitchFamily="34" charset="0"/>
                <a:cs typeface="Calibri" panose="020F0502020204030204" pitchFamily="34" charset="0"/>
              </a:rPr>
              <a:t> </a:t>
            </a:r>
            <a:r>
              <a:rPr lang="en-US" altLang="zh-TW" sz="1200" i="1" dirty="0">
                <a:latin typeface="Calibri" panose="020F0502020204030204" pitchFamily="34" charset="0"/>
                <a:cs typeface="Calibri" panose="020F0502020204030204" pitchFamily="34" charset="0"/>
              </a:rPr>
              <a:t>Web tests, </a:t>
            </a:r>
          </a:p>
          <a:p>
            <a:r>
              <a:rPr lang="en-US" altLang="zh-TW" sz="1200" i="1" dirty="0">
                <a:latin typeface="Calibri" panose="020F0502020204030204" pitchFamily="34" charset="0"/>
                <a:cs typeface="Calibri" panose="020F0502020204030204" pitchFamily="34" charset="0"/>
              </a:rPr>
              <a:t>Helm render,</a:t>
            </a:r>
            <a:r>
              <a:rPr lang="zh-TW" altLang="en-US" sz="1200" i="1" dirty="0">
                <a:latin typeface="Calibri" panose="020F0502020204030204" pitchFamily="34" charset="0"/>
                <a:cs typeface="Calibri" panose="020F0502020204030204" pitchFamily="34" charset="0"/>
              </a:rPr>
              <a:t> </a:t>
            </a:r>
            <a:r>
              <a:rPr lang="en-US" altLang="zh-TW" sz="1200" i="1" dirty="0">
                <a:latin typeface="Calibri" panose="020F0502020204030204" pitchFamily="34" charset="0"/>
                <a:cs typeface="Calibri" panose="020F0502020204030204" pitchFamily="34" charset="0"/>
              </a:rPr>
              <a:t>and K8s verification</a:t>
            </a:r>
            <a:endParaRPr lang="en-US" altLang="zh-TW"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97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C0DC62F-087B-313D-D8EB-526C35DC7FF1}"/>
              </a:ext>
            </a:extLst>
          </p:cNvPr>
          <p:cNvSpPr>
            <a:spLocks noGrp="1"/>
          </p:cNvSpPr>
          <p:nvPr/>
        </p:nvSpPr>
        <p:spPr>
          <a:xfrm>
            <a:off x="0" y="0"/>
            <a:ext cx="12192000" cy="76200"/>
          </a:xfrm>
          <a:prstGeom prst="rect">
            <a:avLst/>
          </a:prstGeom>
          <a:solidFill>
            <a:srgbClr val="173D78"/>
          </a:solidFill>
          <a:ln w="0">
            <a:solidFill>
              <a:srgbClr val="000000">
                <a:alpha val="0"/>
              </a:srgbClr>
            </a:solidFill>
            <a:prstDash val="solid"/>
          </a:ln>
        </p:spPr>
        <p:txBody>
          <a:bodyPr/>
          <a:lstStyle/>
          <a:p>
            <a:endParaRPr/>
          </a:p>
        </p:txBody>
      </p:sp>
      <p:sp>
        <p:nvSpPr>
          <p:cNvPr id="2" name="矩形 1">
            <a:extLst>
              <a:ext uri="{FF2B5EF4-FFF2-40B4-BE49-F238E27FC236}">
                <a16:creationId xmlns:a16="http://schemas.microsoft.com/office/drawing/2014/main" id="{EBE2ECE6-225C-9753-519D-2E8C3C8E3F49}"/>
              </a:ext>
            </a:extLst>
          </p:cNvPr>
          <p:cNvSpPr>
            <a:spLocks noGrp="1"/>
          </p:cNvSpPr>
          <p:nvPr/>
        </p:nvSpPr>
        <p:spPr>
          <a:xfrm>
            <a:off x="533400" y="649758"/>
            <a:ext cx="10287000"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3200">
                <a:solidFill>
                  <a:srgbClr val="172033"/>
                </a:solidFill>
                <a:latin typeface="Calibri"/>
                <a:ea typeface="Calibri"/>
                <a:cs typeface="Calibri"/>
              </a:rPr>
              <a:t>Conclusion</a:t>
            </a:r>
          </a:p>
        </p:txBody>
      </p:sp>
      <p:sp>
        <p:nvSpPr>
          <p:cNvPr id="4" name="矩形 3">
            <a:extLst>
              <a:ext uri="{FF2B5EF4-FFF2-40B4-BE49-F238E27FC236}">
                <a16:creationId xmlns:a16="http://schemas.microsoft.com/office/drawing/2014/main" id="{55B8A81D-0FD6-9FA2-7F43-A34ECB7D8285}"/>
              </a:ext>
            </a:extLst>
          </p:cNvPr>
          <p:cNvSpPr>
            <a:spLocks noGrp="1"/>
          </p:cNvSpPr>
          <p:nvPr/>
        </p:nvSpPr>
        <p:spPr>
          <a:xfrm>
            <a:off x="533400" y="1104900"/>
            <a:ext cx="10363200" cy="19050"/>
          </a:xfrm>
          <a:prstGeom prst="rect">
            <a:avLst/>
          </a:prstGeom>
          <a:solidFill>
            <a:srgbClr val="B9CBE4"/>
          </a:solidFill>
          <a:ln w="0">
            <a:solidFill>
              <a:srgbClr val="000000">
                <a:alpha val="0"/>
              </a:srgbClr>
            </a:solidFill>
            <a:prstDash val="solid"/>
          </a:ln>
        </p:spPr>
        <p:txBody>
          <a:bodyPr/>
          <a:lstStyle/>
          <a:p>
            <a:endParaRPr/>
          </a:p>
        </p:txBody>
      </p:sp>
      <p:sp>
        <p:nvSpPr>
          <p:cNvPr id="5" name="矩形 4">
            <a:extLst>
              <a:ext uri="{FF2B5EF4-FFF2-40B4-BE49-F238E27FC236}">
                <a16:creationId xmlns:a16="http://schemas.microsoft.com/office/drawing/2014/main" id="{D44BD319-6744-2BCF-AEC8-8CEB1567E737}"/>
              </a:ext>
            </a:extLst>
          </p:cNvPr>
          <p:cNvSpPr>
            <a:spLocks noGrp="1"/>
          </p:cNvSpPr>
          <p:nvPr/>
        </p:nvSpPr>
        <p:spPr>
          <a:xfrm>
            <a:off x="11287125" y="6572250"/>
            <a:ext cx="400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5C6678"/>
                </a:solidFill>
                <a:latin typeface="Arial"/>
                <a:ea typeface="Arial"/>
                <a:cs typeface="Arial"/>
              </a:defRPr>
            </a:pPr>
            <a:r>
              <a:rPr sz="900" b="0" dirty="0">
                <a:solidFill>
                  <a:srgbClr val="5C6678"/>
                </a:solidFill>
                <a:latin typeface="Arial"/>
                <a:ea typeface="Arial"/>
                <a:cs typeface="Arial"/>
              </a:rPr>
              <a:t>1</a:t>
            </a:r>
            <a:r>
              <a:rPr lang="en-US" sz="900" b="0" dirty="0">
                <a:solidFill>
                  <a:srgbClr val="5C6678"/>
                </a:solidFill>
                <a:latin typeface="Arial"/>
                <a:ea typeface="Arial"/>
                <a:cs typeface="Arial"/>
              </a:rPr>
              <a:t>8</a:t>
            </a:r>
            <a:endParaRPr sz="900" b="0" dirty="0">
              <a:solidFill>
                <a:srgbClr val="5C6678"/>
              </a:solidFill>
              <a:latin typeface="Arial"/>
              <a:ea typeface="Arial"/>
              <a:cs typeface="Arial"/>
            </a:endParaRPr>
          </a:p>
        </p:txBody>
      </p:sp>
      <p:sp>
        <p:nvSpPr>
          <p:cNvPr id="8" name="矩形 7">
            <a:extLst>
              <a:ext uri="{FF2B5EF4-FFF2-40B4-BE49-F238E27FC236}">
                <a16:creationId xmlns:a16="http://schemas.microsoft.com/office/drawing/2014/main" id="{457F6553-D5AB-C059-4EB3-B8B4FA4E3F6D}"/>
              </a:ext>
            </a:extLst>
          </p:cNvPr>
          <p:cNvSpPr>
            <a:spLocks noGrp="1"/>
          </p:cNvSpPr>
          <p:nvPr/>
        </p:nvSpPr>
        <p:spPr>
          <a:xfrm>
            <a:off x="561782" y="6283901"/>
            <a:ext cx="10725343" cy="457200"/>
          </a:xfrm>
          <a:prstGeom prst="rect">
            <a:avLst/>
          </a:prstGeom>
          <a:solidFill>
            <a:srgbClr val="000000">
              <a:alpha val="0"/>
            </a:srgbClr>
          </a:solidFill>
          <a:ln w="0">
            <a:solidFill>
              <a:srgbClr val="000000">
                <a:alpha val="0"/>
              </a:srgbClr>
            </a:solidFill>
            <a:prstDash val="solid"/>
          </a:ln>
        </p:spPr>
        <p:txBody>
          <a:bodyPr lIns="0" tIns="0" rIns="0" bIns="0" anchor="ctr"/>
          <a:lstStyle/>
          <a:p>
            <a:pPr>
              <a:buNone/>
              <a:defRPr sz="2400" b="1">
                <a:solidFill>
                  <a:srgbClr val="172033"/>
                </a:solidFill>
                <a:latin typeface="Times New Roman"/>
                <a:ea typeface="Times New Roman"/>
                <a:cs typeface="Times New Roman"/>
              </a:defRPr>
            </a:pPr>
            <a:r>
              <a:rPr sz="2000" dirty="0">
                <a:latin typeface="Calibri"/>
                <a:ea typeface="Calibri"/>
                <a:cs typeface="Calibri"/>
              </a:rPr>
              <a:t>Conclusion: WOMS meets the required wafer-order workflows with deployable, testable cloud-native implementation.</a:t>
            </a:r>
          </a:p>
        </p:txBody>
      </p:sp>
      <p:pic>
        <p:nvPicPr>
          <p:cNvPr id="3" name="圖片 2">
            <a:extLst>
              <a:ext uri="{FF2B5EF4-FFF2-40B4-BE49-F238E27FC236}">
                <a16:creationId xmlns:a16="http://schemas.microsoft.com/office/drawing/2014/main" id="{D6EBD29F-C8CC-4DBF-A30E-E64807E96CD3}"/>
              </a:ext>
            </a:extLst>
          </p:cNvPr>
          <p:cNvPicPr>
            <a:picLocks noChangeAspect="1"/>
          </p:cNvPicPr>
          <p:nvPr/>
        </p:nvPicPr>
        <p:blipFill>
          <a:blip r:embed="rId3"/>
          <a:stretch>
            <a:fillRect/>
          </a:stretch>
        </p:blipFill>
        <p:spPr>
          <a:xfrm>
            <a:off x="533400" y="1185388"/>
            <a:ext cx="7772400" cy="4487223"/>
          </a:xfrm>
          <a:prstGeom prst="rect">
            <a:avLst/>
          </a:prstGeom>
        </p:spPr>
      </p:pic>
    </p:spTree>
    <p:extLst>
      <p:ext uri="{BB962C8B-B14F-4D97-AF65-F5344CB8AC3E}">
        <p14:creationId xmlns:p14="http://schemas.microsoft.com/office/powerpoint/2010/main" val="42392206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3719</Words>
  <Application>Microsoft Office PowerPoint</Application>
  <DocSecurity>0</DocSecurity>
  <PresentationFormat>寬螢幕</PresentationFormat>
  <Paragraphs>169</Paragraphs>
  <Slides>19</Slides>
  <Notes>19</Notes>
  <HiddenSlides>4</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19</vt:i4>
      </vt:variant>
    </vt:vector>
  </HeadingPairs>
  <TitlesOfParts>
    <vt:vector size="23" baseType="lpstr">
      <vt:lpstr>Microsoft JhengHei</vt:lpstr>
      <vt:lpstr>Arial</vt:lpstr>
      <vt:lpstr>Calibri</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詹凱旭</cp:lastModifiedBy>
  <cp:revision>21</cp:revision>
  <dcterms:created xsi:type="dcterms:W3CDTF">2026-05-27T00:45:08Z</dcterms:created>
  <dcterms:modified xsi:type="dcterms:W3CDTF">2026-05-27T09:22:04Z</dcterms:modified>
</cp:coreProperties>
</file>